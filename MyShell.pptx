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8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9488"/>
    <a:srgbClr val="4A5A5F"/>
    <a:srgbClr val="FFFFFF"/>
    <a:srgbClr val="CCFBF1"/>
    <a:srgbClr val="F4FD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1132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48840" cy="51435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22960"/>
            <a:ext cx="292608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400" b="1" dirty="0">
                <a:solidFill>
                  <a:srgbClr val="CCFBF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&gt;_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2688336" y="640080"/>
            <a:ext cx="512064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0F76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MyShell</a:t>
            </a:r>
            <a:endParaRPr lang="en-US" sz="6000" dirty="0"/>
          </a:p>
        </p:txBody>
      </p:sp>
      <p:sp>
        <p:nvSpPr>
          <p:cNvPr id="7" name="Shape 5"/>
          <p:cNvSpPr/>
          <p:nvPr/>
        </p:nvSpPr>
        <p:spPr>
          <a:xfrm>
            <a:off x="2688336" y="1783080"/>
            <a:ext cx="512064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88336" y="1920240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F76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Custom Unix Shell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688336" y="2404872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Operating Systems Project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0" y="4773168"/>
            <a:ext cx="9144000" cy="393192"/>
          </a:xfrm>
          <a:prstGeom prst="rect">
            <a:avLst/>
          </a:prstGeom>
          <a:solidFill>
            <a:srgbClr val="CCFBF1"/>
          </a:solidFill>
          <a:ln w="12700">
            <a:solidFill>
              <a:srgbClr val="B2DFD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51215" y="4738793"/>
            <a:ext cx="8781627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766E"/>
                </a:solidFill>
              </a:rPr>
              <a:t>Department Of Computer Science                                                                                                                Air University A&amp;ACK                                                                                                          </a:t>
            </a:r>
            <a:endParaRPr lang="en-US" sz="1400" b="1" dirty="0"/>
          </a:p>
        </p:txBody>
      </p:sp>
      <p:sp>
        <p:nvSpPr>
          <p:cNvPr id="18" name="Text 7"/>
          <p:cNvSpPr/>
          <p:nvPr/>
        </p:nvSpPr>
        <p:spPr>
          <a:xfrm>
            <a:off x="6935216" y="3845052"/>
            <a:ext cx="1747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Presented By:</a:t>
            </a:r>
            <a:endParaRPr lang="en-US" b="1" i="1" dirty="0">
              <a:solidFill>
                <a:srgbClr val="6B728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l">
              <a:buNone/>
            </a:pPr>
            <a:r>
              <a:rPr lang="en-US" sz="1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Haleema Abid</a:t>
            </a:r>
            <a:endParaRPr lang="en-US" sz="1700" dirty="0">
              <a:solidFill>
                <a:srgbClr val="6B728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l">
              <a:buNone/>
            </a:pPr>
            <a:r>
              <a:rPr lang="en-US" sz="1700" dirty="0" err="1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Samreen</a:t>
            </a:r>
            <a:r>
              <a:rPr lang="en-US" sz="1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1700" dirty="0" err="1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Shoukat</a:t>
            </a:r>
            <a:endParaRPr lang="en-US" sz="1700" dirty="0">
              <a:solidFill>
                <a:srgbClr val="6B728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l">
              <a:buNone/>
            </a:pPr>
            <a:r>
              <a:rPr lang="en-US" sz="1700" dirty="0" err="1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Hamna</a:t>
            </a:r>
            <a:r>
              <a:rPr lang="en-US" sz="1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Saleem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CFBF1"/>
          </a:solidFill>
          <a:ln w="12700">
            <a:solidFill>
              <a:srgbClr val="B2DFD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82880" y="4908500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 err="1">
                <a:solidFill>
                  <a:srgbClr val="0F766E"/>
                </a:solidFill>
              </a:rPr>
              <a:t>MyShell</a:t>
            </a:r>
            <a:r>
              <a:rPr lang="en-US" sz="1200" dirty="0">
                <a:solidFill>
                  <a:srgbClr val="0F766E"/>
                </a:solidFill>
              </a:rPr>
              <a:t> 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503920" y="4901184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D9488"/>
                </a:solidFill>
              </a:rPr>
              <a:t>2</a:t>
            </a:r>
            <a:endParaRPr lang="en-US" sz="1200" b="1" dirty="0">
              <a:solidFill>
                <a:srgbClr val="0D9488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274320" y="555955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kern="0" spc="400" dirty="0">
                <a:solidFill>
                  <a:srgbClr val="0D9488"/>
                </a:solidFill>
              </a:rPr>
              <a:t>TABLE OF CONTENTS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228600" y="896112"/>
            <a:ext cx="8686800" cy="0"/>
          </a:xfrm>
          <a:prstGeom prst="line">
            <a:avLst/>
          </a:prstGeom>
          <a:noFill/>
          <a:ln w="12700">
            <a:solidFill>
              <a:srgbClr val="B2DFD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005840"/>
            <a:ext cx="0" cy="3335154"/>
          </a:xfrm>
          <a:prstGeom prst="line">
            <a:avLst/>
          </a:prstGeom>
          <a:noFill/>
          <a:ln w="19050">
            <a:solidFill>
              <a:srgbClr val="B2DFDF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521208" y="1188721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" y="1188721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14400" y="1069849"/>
            <a:ext cx="3291840" cy="565092"/>
          </a:xfrm>
          <a:prstGeom prst="rect">
            <a:avLst/>
          </a:prstGeom>
          <a:solidFill>
            <a:srgbClr val="F4FDFD"/>
          </a:solidFill>
          <a:ln w="9525">
            <a:solidFill>
              <a:srgbClr val="B2DFD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H="1">
            <a:off x="868681" y="1069849"/>
            <a:ext cx="45719" cy="5650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59" y="123627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F2027"/>
                </a:solidFill>
              </a:rPr>
              <a:t>Project Overview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21208" y="1870862"/>
            <a:ext cx="274320" cy="27432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" y="1884579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90626" y="1764791"/>
            <a:ext cx="3291839" cy="466345"/>
          </a:xfrm>
          <a:prstGeom prst="rect">
            <a:avLst/>
          </a:prstGeom>
          <a:solidFill>
            <a:srgbClr val="FFFFFF"/>
          </a:solidFill>
          <a:ln w="9525">
            <a:solidFill>
              <a:srgbClr val="B2DFD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0392" y="1764791"/>
            <a:ext cx="45719" cy="466345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42416" y="187086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F2027"/>
                </a:solidFill>
              </a:rPr>
              <a:t>System Architecture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502919" y="2536546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19" y="253654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96111" y="2404872"/>
            <a:ext cx="3291840" cy="490119"/>
          </a:xfrm>
          <a:prstGeom prst="rect">
            <a:avLst/>
          </a:prstGeom>
          <a:solidFill>
            <a:srgbClr val="F4FDFD"/>
          </a:solidFill>
          <a:ln w="9525">
            <a:solidFill>
              <a:srgbClr val="B2DFD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96111" y="2404872"/>
            <a:ext cx="45719" cy="507493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60705" y="2545361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F2027"/>
                </a:solidFill>
              </a:rPr>
              <a:t>Core Features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534010" y="3202231"/>
            <a:ext cx="256033" cy="24048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1208" y="3218687"/>
            <a:ext cx="274320" cy="2114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90626" y="3035480"/>
            <a:ext cx="3291840" cy="507493"/>
          </a:xfrm>
          <a:prstGeom prst="rect">
            <a:avLst/>
          </a:prstGeom>
          <a:solidFill>
            <a:srgbClr val="FFFFFF"/>
          </a:solidFill>
          <a:ln w="9525">
            <a:solidFill>
              <a:srgbClr val="B2DFD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90626" y="3035480"/>
            <a:ext cx="54864" cy="507493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25245" y="3192706"/>
            <a:ext cx="3108960" cy="2114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F2027"/>
                </a:solidFill>
              </a:rPr>
              <a:t>Technical Deep Dive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521208" y="3850538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1208" y="3850538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886968" y="3706413"/>
            <a:ext cx="3300983" cy="504398"/>
          </a:xfrm>
          <a:prstGeom prst="rect">
            <a:avLst/>
          </a:prstGeom>
          <a:solidFill>
            <a:srgbClr val="F4FDFD"/>
          </a:solidFill>
          <a:ln w="9525">
            <a:solidFill>
              <a:srgbClr val="B2DFD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86968" y="3706413"/>
            <a:ext cx="45719" cy="50439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24127" y="381107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F2027"/>
                </a:solidFill>
              </a:rPr>
              <a:t>Output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906671"/>
            <a:ext cx="9144000" cy="251460"/>
          </a:xfrm>
          <a:prstGeom prst="rect">
            <a:avLst/>
          </a:prstGeom>
          <a:solidFill>
            <a:srgbClr val="CCFBF1"/>
          </a:solidFill>
          <a:ln w="12700">
            <a:solidFill>
              <a:srgbClr val="B2DF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24044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 err="1">
                <a:solidFill>
                  <a:srgbClr val="0F766E"/>
                </a:solidFill>
              </a:rPr>
              <a:t>MyShell</a:t>
            </a:r>
            <a:r>
              <a:rPr lang="en-US" sz="1200" dirty="0">
                <a:solidFill>
                  <a:srgbClr val="0F766E"/>
                </a:solidFill>
              </a:rPr>
              <a:t> 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503920" y="4901184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D9488"/>
                </a:solidFill>
              </a:rPr>
              <a:t>3</a:t>
            </a:r>
            <a:endParaRPr lang="en-US" sz="1200" b="1" dirty="0">
              <a:solidFill>
                <a:srgbClr val="0D9488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403250" y="535839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kern="0" spc="300" dirty="0">
                <a:solidFill>
                  <a:srgbClr val="0D9488"/>
                </a:solidFill>
              </a:rPr>
              <a:t>PROJECT OVERVIEW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49884" y="969264"/>
            <a:ext cx="8595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76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is MyShell?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228600" y="868680"/>
            <a:ext cx="8686800" cy="0"/>
          </a:xfrm>
          <a:prstGeom prst="line">
            <a:avLst/>
          </a:prstGeom>
          <a:noFill/>
          <a:ln w="12700">
            <a:solidFill>
              <a:srgbClr val="B2DF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8114" y="1459383"/>
            <a:ext cx="530352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600" dirty="0"/>
              <a:t>The shell is the outer layer of an OS that acts as a bridge, taking your commands and translating them for the computer's core. It serves as the user's interface to control the system's inner workings.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03250" y="2658161"/>
            <a:ext cx="53035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2DFD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3250" y="2658161"/>
            <a:ext cx="54864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978" y="2767889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9488"/>
                </a:solidFill>
              </a:rPr>
              <a:t>Goal: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09090" y="2767889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F2027"/>
                </a:solidFill>
              </a:rPr>
              <a:t>Build a fully functional Unix shell from scratch in C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03250" y="3316529"/>
            <a:ext cx="53035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2DFD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3250" y="3316529"/>
            <a:ext cx="54864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978" y="3426257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9488"/>
                </a:solidFill>
              </a:rPr>
              <a:t>Scope: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09090" y="3426257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F2027"/>
                </a:solidFill>
              </a:rPr>
              <a:t>8 built-in features + process management + I/O control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03250" y="3974897"/>
            <a:ext cx="53035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2DFD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03250" y="3974897"/>
            <a:ext cx="54864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978" y="4084625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9488"/>
                </a:solidFill>
              </a:rPr>
              <a:t>Tech: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09090" y="4084625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F2027"/>
                </a:solidFill>
              </a:rPr>
              <a:t>C, Linux (GCC)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852160" y="960120"/>
            <a:ext cx="2926080" cy="3566160"/>
          </a:xfrm>
          <a:prstGeom prst="rect">
            <a:avLst/>
          </a:prstGeom>
          <a:solidFill>
            <a:srgbClr val="4A5A5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68135" y="1234440"/>
            <a:ext cx="1355090" cy="135509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52160" y="1343025"/>
            <a:ext cx="29260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8000" dirty="0"/>
          </a:p>
        </p:txBody>
      </p:sp>
      <p:sp>
        <p:nvSpPr>
          <p:cNvPr id="26" name="Text 24"/>
          <p:cNvSpPr/>
          <p:nvPr/>
        </p:nvSpPr>
        <p:spPr>
          <a:xfrm>
            <a:off x="5860415" y="2694178"/>
            <a:ext cx="2926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CCFBF1"/>
                </a:solidFill>
              </a:rPr>
              <a:t>Features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CCFBF1"/>
                </a:solidFill>
              </a:rPr>
              <a:t>Implemented</a:t>
            </a: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875020" y="336042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FFAFE"/>
                </a:solidFill>
              </a:rPr>
              <a:t>cd  ·  history  ·  !!  ·  help  ·  exit  ·  &amp;  ·  I/O redirect  ·  pipe</a:t>
            </a:r>
            <a:endParaRPr lang="en-US" sz="900" b="1" dirty="0">
              <a:solidFill>
                <a:srgbClr val="CFFAFE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60"/>
          <p:cNvSpPr/>
          <p:nvPr/>
        </p:nvSpPr>
        <p:spPr>
          <a:xfrm>
            <a:off x="0" y="64008"/>
            <a:ext cx="9144000" cy="4828032"/>
          </a:xfrm>
          <a:prstGeom prst="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Shape 50"/>
          <p:cNvSpPr/>
          <p:nvPr/>
        </p:nvSpPr>
        <p:spPr>
          <a:xfrm>
            <a:off x="251460" y="3310128"/>
            <a:ext cx="42062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B2DFDF"/>
            </a:solidFill>
            <a:prstDash val="solid"/>
          </a:ln>
        </p:spPr>
      </p:sp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CFBF1"/>
          </a:solidFill>
          <a:ln w="12700">
            <a:solidFill>
              <a:srgbClr val="B2DF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08804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 err="1">
                <a:solidFill>
                  <a:srgbClr val="0F766E"/>
                </a:solidFill>
              </a:rPr>
              <a:t>MyShell</a:t>
            </a:r>
            <a:endParaRPr lang="en-US" sz="1200" dirty="0" err="1">
              <a:solidFill>
                <a:srgbClr val="0F766E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8503920" y="4901184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D9488"/>
                </a:solidFill>
              </a:rPr>
              <a:t>4</a:t>
            </a:r>
            <a:endParaRPr lang="en-US" sz="1200" b="1" dirty="0">
              <a:solidFill>
                <a:srgbClr val="0D9488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251460" y="512064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kern="0" spc="300" dirty="0">
                <a:solidFill>
                  <a:srgbClr val="0D9488"/>
                </a:solidFill>
              </a:rPr>
              <a:t>SYSTEM ARCHITECTURE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228600" y="868680"/>
            <a:ext cx="8686800" cy="0"/>
          </a:xfrm>
          <a:prstGeom prst="line">
            <a:avLst/>
          </a:prstGeom>
          <a:noFill/>
          <a:ln w="12700">
            <a:solidFill>
              <a:srgbClr val="B2DFD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042416"/>
            <a:ext cx="150876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1042416"/>
            <a:ext cx="15087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115568"/>
            <a:ext cx="15087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766E"/>
                </a:solidFill>
              </a:rPr>
              <a:t>User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F766E"/>
                </a:solidFill>
              </a:rPr>
              <a:t>Input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2920" y="1636776"/>
            <a:ext cx="1508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</a:rPr>
              <a:t>stdin / keyboard</a:t>
            </a:r>
            <a:endParaRPr lang="en-US" sz="1400" dirty="0">
              <a:solidFill>
                <a:srgbClr val="6B7280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011680" y="1522476"/>
            <a:ext cx="32004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94560" y="1362456"/>
            <a:ext cx="228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9488"/>
                </a:solidFill>
              </a:rPr>
              <a:t>▶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148840" y="1042416"/>
            <a:ext cx="150876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48840" y="1042416"/>
            <a:ext cx="15087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48840" y="1115568"/>
            <a:ext cx="15087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766E"/>
                </a:solidFill>
              </a:rPr>
              <a:t>Command Parser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148840" y="1636776"/>
            <a:ext cx="1508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</a:rPr>
              <a:t>tokenize &amp; split</a:t>
            </a:r>
            <a:endParaRPr lang="en-US" sz="1400" dirty="0">
              <a:solidFill>
                <a:srgbClr val="6B7280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657600" y="1522476"/>
            <a:ext cx="32004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0" y="1362456"/>
            <a:ext cx="228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9488"/>
                </a:solidFill>
              </a:rPr>
              <a:t>▶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794760" y="1042416"/>
            <a:ext cx="150876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94760" y="1042416"/>
            <a:ext cx="15087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94760" y="1115568"/>
            <a:ext cx="15087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766E"/>
                </a:solidFill>
              </a:rPr>
              <a:t>Command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F766E"/>
                </a:solidFill>
              </a:rPr>
              <a:t>Router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794760" y="1636776"/>
            <a:ext cx="1508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</a:rPr>
              <a:t>built-in vs exec</a:t>
            </a:r>
            <a:endParaRPr lang="en-US" sz="1400" dirty="0">
              <a:solidFill>
                <a:srgbClr val="6B7280"/>
              </a:solidFill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303520" y="1522476"/>
            <a:ext cx="32004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0" y="1362456"/>
            <a:ext cx="228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9488"/>
                </a:solidFill>
              </a:rPr>
              <a:t>▶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40680" y="1042416"/>
            <a:ext cx="150876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40680" y="1042416"/>
            <a:ext cx="15087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40680" y="1115568"/>
            <a:ext cx="15087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766E"/>
                </a:solidFill>
              </a:rPr>
              <a:t>Execution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F766E"/>
                </a:solidFill>
              </a:rPr>
              <a:t>Engine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440680" y="1636776"/>
            <a:ext cx="1508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</a:rPr>
              <a:t>fork/exec/wait</a:t>
            </a:r>
            <a:endParaRPr lang="en-US" sz="1400" dirty="0">
              <a:solidFill>
                <a:srgbClr val="6B7280"/>
              </a:solidFill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949440" y="1522476"/>
            <a:ext cx="32004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32320" y="1362456"/>
            <a:ext cx="228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9488"/>
                </a:solidFill>
              </a:rPr>
              <a:t>▶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086600" y="1042416"/>
            <a:ext cx="150876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086600" y="1042416"/>
            <a:ext cx="15087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86600" y="1115568"/>
            <a:ext cx="15087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766E"/>
                </a:solidFill>
              </a:rPr>
              <a:t>Output</a:t>
            </a:r>
            <a:endParaRPr lang="en-US" sz="1600" b="1" dirty="0">
              <a:solidFill>
                <a:srgbClr val="0F766E"/>
              </a:solidFill>
            </a:endParaRPr>
          </a:p>
        </p:txBody>
      </p:sp>
      <p:sp>
        <p:nvSpPr>
          <p:cNvPr id="37" name="Text 35"/>
          <p:cNvSpPr/>
          <p:nvPr/>
        </p:nvSpPr>
        <p:spPr>
          <a:xfrm>
            <a:off x="7086600" y="1636776"/>
            <a:ext cx="1508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 err="1">
                <a:solidFill>
                  <a:srgbClr val="6B7280"/>
                </a:solidFill>
              </a:rPr>
              <a:t>stdout</a:t>
            </a:r>
            <a:endParaRPr lang="en-US" sz="1400" dirty="0" err="1">
              <a:solidFill>
                <a:srgbClr val="6B7280"/>
              </a:solidFill>
            </a:endParaRPr>
          </a:p>
        </p:txBody>
      </p:sp>
      <p:sp>
        <p:nvSpPr>
          <p:cNvPr id="38" name="Text 36"/>
          <p:cNvSpPr/>
          <p:nvPr/>
        </p:nvSpPr>
        <p:spPr>
          <a:xfrm>
            <a:off x="228600" y="226771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0D9488"/>
                </a:solidFill>
              </a:rPr>
              <a:t>Core Modules</a:t>
            </a:r>
            <a:endParaRPr lang="en-US" b="1" dirty="0">
              <a:solidFill>
                <a:srgbClr val="0D9488"/>
              </a:solidFill>
            </a:endParaRPr>
          </a:p>
        </p:txBody>
      </p:sp>
      <p:sp>
        <p:nvSpPr>
          <p:cNvPr id="39" name="Shape 37"/>
          <p:cNvSpPr/>
          <p:nvPr/>
        </p:nvSpPr>
        <p:spPr>
          <a:xfrm>
            <a:off x="228600" y="2542032"/>
            <a:ext cx="8686800" cy="0"/>
          </a:xfrm>
          <a:prstGeom prst="line">
            <a:avLst/>
          </a:prstGeom>
          <a:noFill/>
          <a:ln w="12700">
            <a:solidFill>
              <a:srgbClr val="B2DFD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28600" y="2670048"/>
            <a:ext cx="42062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B2DFD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28600" y="2670048"/>
            <a:ext cx="45720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2670048"/>
            <a:ext cx="256032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2027"/>
                </a:solidFill>
              </a:rPr>
              <a:t>Input </a:t>
            </a:r>
            <a:r>
              <a:rPr lang="en-US" sz="1600" b="1" dirty="0"/>
              <a:t>&amp; History </a:t>
            </a:r>
            <a:r>
              <a:rPr lang="en-US" sz="1600" b="1" dirty="0">
                <a:solidFill>
                  <a:srgbClr val="0F2027"/>
                </a:solidFill>
              </a:rPr>
              <a:t>Handler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2926080" y="2670048"/>
            <a:ext cx="14630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28600" y="3310128"/>
            <a:ext cx="45720" cy="5303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3310128"/>
            <a:ext cx="256032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/>
              <a:t>Logical</a:t>
            </a:r>
            <a:r>
              <a:rPr lang="en-US" sz="1600" dirty="0"/>
              <a:t> </a:t>
            </a:r>
            <a:r>
              <a:rPr lang="en-US" sz="1600" b="1" dirty="0">
                <a:solidFill>
                  <a:srgbClr val="0F2027"/>
                </a:solidFill>
              </a:rPr>
              <a:t> Parser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228600" y="3950208"/>
            <a:ext cx="42062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B2DFD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28600" y="3950208"/>
            <a:ext cx="45720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5760" y="3950208"/>
            <a:ext cx="256032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2027"/>
                </a:solidFill>
              </a:rPr>
              <a:t>Built-in Commands</a:t>
            </a:r>
            <a:endParaRPr lang="en-US" sz="1600" b="1" dirty="0">
              <a:solidFill>
                <a:srgbClr val="0F2027"/>
              </a:solidFill>
            </a:endParaRPr>
          </a:p>
        </p:txBody>
      </p:sp>
      <p:sp>
        <p:nvSpPr>
          <p:cNvPr id="52" name="Shape 50"/>
          <p:cNvSpPr/>
          <p:nvPr/>
        </p:nvSpPr>
        <p:spPr>
          <a:xfrm>
            <a:off x="4800600" y="2670048"/>
            <a:ext cx="42062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B2DFD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800600" y="2670048"/>
            <a:ext cx="45720" cy="5303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37760" y="2670048"/>
            <a:ext cx="256032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2027"/>
                </a:solidFill>
              </a:rPr>
              <a:t>Process Manager</a:t>
            </a:r>
            <a:endParaRPr lang="en-US" sz="1600" b="1" dirty="0">
              <a:solidFill>
                <a:srgbClr val="0F2027"/>
              </a:solidFill>
            </a:endParaRPr>
          </a:p>
        </p:txBody>
      </p:sp>
      <p:sp>
        <p:nvSpPr>
          <p:cNvPr id="56" name="Shape 54"/>
          <p:cNvSpPr/>
          <p:nvPr/>
        </p:nvSpPr>
        <p:spPr>
          <a:xfrm>
            <a:off x="4800600" y="3310128"/>
            <a:ext cx="42062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B2DFD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800600" y="3310128"/>
            <a:ext cx="45720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937760" y="3326638"/>
            <a:ext cx="256032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2027"/>
                </a:solidFill>
              </a:rPr>
              <a:t>Pipe/Redirect Handler</a:t>
            </a:r>
            <a:endParaRPr lang="en-US" sz="1600" b="1" dirty="0">
              <a:solidFill>
                <a:srgbClr val="0F2027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906671"/>
            <a:ext cx="9144000" cy="251460"/>
          </a:xfrm>
          <a:prstGeom prst="rect">
            <a:avLst/>
          </a:prstGeom>
          <a:solidFill>
            <a:srgbClr val="CCFBF1"/>
          </a:solidFill>
          <a:ln w="12700">
            <a:solidFill>
              <a:srgbClr val="B2DF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16424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 err="1">
                <a:solidFill>
                  <a:srgbClr val="0F766E"/>
                </a:solidFill>
              </a:rPr>
              <a:t>MyShell</a:t>
            </a:r>
            <a:r>
              <a:rPr lang="en-US" sz="900" dirty="0">
                <a:solidFill>
                  <a:srgbClr val="0F766E"/>
                </a:solidFill>
              </a:rPr>
              <a:t>  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503920" y="4901184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D9488"/>
                </a:solidFill>
              </a:rPr>
              <a:t>5</a:t>
            </a:r>
            <a:endParaRPr lang="en-US" sz="1200" b="1" dirty="0">
              <a:solidFill>
                <a:srgbClr val="0D9488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228600" y="518465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kern="0" spc="300" dirty="0">
                <a:solidFill>
                  <a:srgbClr val="0D9488"/>
                </a:solidFill>
              </a:rPr>
              <a:t>CORE FEATURES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228600" y="868680"/>
            <a:ext cx="8686800" cy="0"/>
          </a:xfrm>
          <a:prstGeom prst="line">
            <a:avLst/>
          </a:prstGeom>
          <a:noFill/>
          <a:ln w="12700">
            <a:solidFill>
              <a:srgbClr val="B2DFD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" y="1005840"/>
            <a:ext cx="201168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" y="1005840"/>
            <a:ext cx="201168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1024128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cd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01752" y="1389888"/>
            <a:ext cx="186537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766E"/>
                </a:solidFill>
              </a:rPr>
              <a:t>cd</a:t>
            </a:r>
            <a:endParaRPr lang="en-US" sz="2000" b="1" dirty="0">
              <a:solidFill>
                <a:srgbClr val="0F766E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301752" y="1783080"/>
            <a:ext cx="1865376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74151"/>
                </a:solidFill>
              </a:rPr>
              <a:t>Change working directory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404872" y="1005840"/>
            <a:ext cx="201168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04872" y="1005840"/>
            <a:ext cx="201168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04872" y="1024128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≡</a:t>
            </a:r>
            <a:endParaRPr lang="en-US" sz="2000" b="1" dirty="0">
              <a:solidFill>
                <a:srgbClr val="FFFFFF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478024" y="1389888"/>
            <a:ext cx="186537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766E"/>
                </a:solidFill>
              </a:rPr>
              <a:t>history</a:t>
            </a:r>
            <a:endParaRPr lang="en-US" sz="2000" b="1" dirty="0">
              <a:solidFill>
                <a:srgbClr val="0F766E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2478024" y="1783080"/>
            <a:ext cx="1865376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74151"/>
                </a:solidFill>
              </a:rPr>
              <a:t>View last 10 commands</a:t>
            </a:r>
            <a:endParaRPr lang="en-US" sz="1400" dirty="0">
              <a:solidFill>
                <a:srgbClr val="374151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581144" y="1005840"/>
            <a:ext cx="201168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81144" y="1005840"/>
            <a:ext cx="201168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81144" y="1024128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!!</a:t>
            </a:r>
            <a:endParaRPr lang="en-US" sz="2000" b="1" dirty="0">
              <a:solidFill>
                <a:srgbClr val="FFFFFF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654296" y="1389888"/>
            <a:ext cx="186537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766E"/>
                </a:solidFill>
              </a:rPr>
              <a:t>!!</a:t>
            </a:r>
            <a:endParaRPr lang="en-US" sz="2000" b="1" dirty="0">
              <a:solidFill>
                <a:srgbClr val="0F766E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4654296" y="1783080"/>
            <a:ext cx="1865376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74151"/>
                </a:solidFill>
              </a:rPr>
              <a:t>Repeat last command</a:t>
            </a:r>
            <a:endParaRPr lang="en-US" sz="1400" dirty="0">
              <a:solidFill>
                <a:srgbClr val="374151"/>
              </a:solidFill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757416" y="1005840"/>
            <a:ext cx="201168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57416" y="1005840"/>
            <a:ext cx="201168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57416" y="1024128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?</a:t>
            </a:r>
            <a:endParaRPr lang="en-US" sz="2000" b="1" dirty="0">
              <a:solidFill>
                <a:srgbClr val="FFFFFF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830568" y="1389888"/>
            <a:ext cx="186537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766E"/>
                </a:solidFill>
              </a:rPr>
              <a:t>help</a:t>
            </a:r>
            <a:endParaRPr lang="en-US" sz="2000" b="1" dirty="0">
              <a:solidFill>
                <a:srgbClr val="0F766E"/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6830568" y="1783080"/>
            <a:ext cx="1865376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74151"/>
                </a:solidFill>
              </a:rPr>
              <a:t>List all built-in commands</a:t>
            </a:r>
            <a:endParaRPr lang="en-US" sz="1400" dirty="0">
              <a:solidFill>
                <a:srgbClr val="374151"/>
              </a:solidFill>
            </a:endParaRPr>
          </a:p>
        </p:txBody>
      </p:sp>
      <p:sp>
        <p:nvSpPr>
          <p:cNvPr id="30" name="Shape 28"/>
          <p:cNvSpPr/>
          <p:nvPr/>
        </p:nvSpPr>
        <p:spPr>
          <a:xfrm>
            <a:off x="228600" y="2834640"/>
            <a:ext cx="201168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8600" y="2834640"/>
            <a:ext cx="2011680" cy="3200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8600" y="2852928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⏻</a:t>
            </a:r>
            <a:endParaRPr lang="en-US" sz="2000" b="1" dirty="0">
              <a:solidFill>
                <a:srgbClr val="FFFFFF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301752" y="3218688"/>
            <a:ext cx="186537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F766E"/>
                </a:solidFill>
              </a:rPr>
              <a:t>exit / quit</a:t>
            </a:r>
            <a:endParaRPr lang="en-US" b="1" dirty="0">
              <a:solidFill>
                <a:srgbClr val="0F766E"/>
              </a:solidFill>
            </a:endParaRPr>
          </a:p>
        </p:txBody>
      </p:sp>
      <p:sp>
        <p:nvSpPr>
          <p:cNvPr id="34" name="Text 32"/>
          <p:cNvSpPr/>
          <p:nvPr/>
        </p:nvSpPr>
        <p:spPr>
          <a:xfrm>
            <a:off x="301752" y="3611880"/>
            <a:ext cx="1865376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74151"/>
                </a:solidFill>
              </a:rPr>
              <a:t>Terminate the shell</a:t>
            </a:r>
            <a:endParaRPr lang="en-US" sz="1400" dirty="0">
              <a:solidFill>
                <a:srgbClr val="374151"/>
              </a:solidFill>
            </a:endParaRPr>
          </a:p>
        </p:txBody>
      </p:sp>
      <p:sp>
        <p:nvSpPr>
          <p:cNvPr id="35" name="Shape 33"/>
          <p:cNvSpPr/>
          <p:nvPr/>
        </p:nvSpPr>
        <p:spPr>
          <a:xfrm>
            <a:off x="2404872" y="2834640"/>
            <a:ext cx="201168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404872" y="2834640"/>
            <a:ext cx="2011680" cy="3200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404872" y="2852928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&amp;</a:t>
            </a:r>
            <a:endParaRPr lang="en-US" sz="2000" b="1" dirty="0">
              <a:solidFill>
                <a:srgbClr val="FFFFFF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2478024" y="3218688"/>
            <a:ext cx="186537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F766E"/>
                </a:solidFill>
              </a:rPr>
              <a:t>Background (&amp;)</a:t>
            </a:r>
            <a:endParaRPr lang="en-US" b="1" dirty="0">
              <a:solidFill>
                <a:srgbClr val="0F766E"/>
              </a:solidFill>
            </a:endParaRPr>
          </a:p>
        </p:txBody>
      </p:sp>
      <p:sp>
        <p:nvSpPr>
          <p:cNvPr id="39" name="Text 37"/>
          <p:cNvSpPr/>
          <p:nvPr/>
        </p:nvSpPr>
        <p:spPr>
          <a:xfrm>
            <a:off x="2478024" y="3611880"/>
            <a:ext cx="1865376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74151"/>
                </a:solidFill>
              </a:rPr>
              <a:t>Run process in background</a:t>
            </a:r>
            <a:endParaRPr lang="en-US" sz="1400" dirty="0">
              <a:solidFill>
                <a:srgbClr val="374151"/>
              </a:solidFill>
            </a:endParaRPr>
          </a:p>
        </p:txBody>
      </p:sp>
      <p:sp>
        <p:nvSpPr>
          <p:cNvPr id="40" name="Shape 38"/>
          <p:cNvSpPr/>
          <p:nvPr/>
        </p:nvSpPr>
        <p:spPr>
          <a:xfrm>
            <a:off x="4581144" y="2834640"/>
            <a:ext cx="201168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81144" y="2834640"/>
            <a:ext cx="2011680" cy="3200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81144" y="2852928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 &gt;&gt;</a:t>
            </a:r>
            <a:endParaRPr lang="en-US" sz="2000" b="1" dirty="0">
              <a:solidFill>
                <a:srgbClr val="FFFFFF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4654296" y="3218688"/>
            <a:ext cx="186537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F766E"/>
                </a:solidFill>
              </a:rPr>
              <a:t>I/O Redirection</a:t>
            </a:r>
            <a:endParaRPr lang="en-US" b="1" dirty="0">
              <a:solidFill>
                <a:srgbClr val="0F766E"/>
              </a:solidFill>
            </a:endParaRPr>
          </a:p>
        </p:txBody>
      </p:sp>
      <p:sp>
        <p:nvSpPr>
          <p:cNvPr id="44" name="Text 42"/>
          <p:cNvSpPr/>
          <p:nvPr/>
        </p:nvSpPr>
        <p:spPr>
          <a:xfrm>
            <a:off x="4654296" y="3611880"/>
            <a:ext cx="1865376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74151"/>
                </a:solidFill>
              </a:rPr>
              <a:t>Redirect stdin/</a:t>
            </a:r>
            <a:r>
              <a:rPr lang="en-US" sz="1400" dirty="0" err="1">
                <a:solidFill>
                  <a:srgbClr val="374151"/>
                </a:solidFill>
              </a:rPr>
              <a:t>stdout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6757416" y="2834640"/>
            <a:ext cx="201168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757416" y="2834640"/>
            <a:ext cx="2011680" cy="3200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757416" y="2852928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|</a:t>
            </a:r>
            <a:endParaRPr lang="en-US" sz="2000" b="1" dirty="0">
              <a:solidFill>
                <a:srgbClr val="FFFFFF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6830568" y="3218688"/>
            <a:ext cx="186537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F766E"/>
                </a:solidFill>
              </a:rPr>
              <a:t>Pipe ( | )</a:t>
            </a:r>
            <a:endParaRPr lang="en-US" b="1" dirty="0">
              <a:solidFill>
                <a:srgbClr val="0F766E"/>
              </a:solidFill>
            </a:endParaRPr>
          </a:p>
        </p:txBody>
      </p:sp>
      <p:sp>
        <p:nvSpPr>
          <p:cNvPr id="49" name="Text 47"/>
          <p:cNvSpPr/>
          <p:nvPr/>
        </p:nvSpPr>
        <p:spPr>
          <a:xfrm>
            <a:off x="6830568" y="3611880"/>
            <a:ext cx="1865376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74151"/>
                </a:solidFill>
              </a:rPr>
              <a:t>Chain commands together</a:t>
            </a:r>
            <a:endParaRPr lang="en-US" sz="1400" dirty="0">
              <a:solidFill>
                <a:srgbClr val="37415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CFBF1"/>
          </a:solidFill>
          <a:ln w="12700">
            <a:solidFill>
              <a:srgbClr val="B2DF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01184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 err="1">
                <a:solidFill>
                  <a:srgbClr val="0F766E"/>
                </a:solidFill>
              </a:rPr>
              <a:t>MyShell</a:t>
            </a:r>
            <a:r>
              <a:rPr lang="en-US" sz="900" dirty="0">
                <a:solidFill>
                  <a:srgbClr val="0F766E"/>
                </a:solidFill>
              </a:rPr>
              <a:t> 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503920" y="4901184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D9488"/>
                </a:solidFill>
              </a:rPr>
              <a:t>6</a:t>
            </a:r>
            <a:endParaRPr lang="en-US" sz="1200" b="1" dirty="0">
              <a:solidFill>
                <a:srgbClr val="0D9488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228600" y="347472"/>
            <a:ext cx="8595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76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Process Management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228600" y="868680"/>
            <a:ext cx="8686800" cy="0"/>
          </a:xfrm>
          <a:prstGeom prst="line">
            <a:avLst/>
          </a:prstGeom>
          <a:noFill/>
          <a:ln w="12700">
            <a:solidFill>
              <a:srgbClr val="B2DFD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" y="1005840"/>
            <a:ext cx="4846320" cy="3790188"/>
          </a:xfrm>
          <a:prstGeom prst="rect">
            <a:avLst/>
          </a:prstGeom>
          <a:solidFill>
            <a:srgbClr val="E8F8F8"/>
          </a:solidFill>
          <a:ln w="12700">
            <a:solidFill>
              <a:srgbClr val="B2DFD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328" y="109728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" y="109728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1097280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8446" y="1257300"/>
            <a:ext cx="4663440" cy="2697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 err="1">
                <a:solidFill>
                  <a:srgbClr val="0F2027"/>
                </a:solidFill>
                <a:ea typeface="Courier New" panose="02070309020205020404" pitchFamily="34" charset="-122"/>
                <a:cs typeface="Courier New" panose="02070309020205020404" pitchFamily="34" charset="-120"/>
              </a:rPr>
              <a:t>pid_t</a:t>
            </a:r>
            <a:r>
              <a:rPr lang="en-US" sz="1200" dirty="0">
                <a:solidFill>
                  <a:srgbClr val="0F2027"/>
                </a:solidFill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200" dirty="0" err="1">
                <a:solidFill>
                  <a:srgbClr val="0F2027"/>
                </a:solidFill>
                <a:ea typeface="Courier New" panose="02070309020205020404" pitchFamily="34" charset="-122"/>
                <a:cs typeface="Courier New" panose="02070309020205020404" pitchFamily="34" charset="-120"/>
              </a:rPr>
              <a:t>child_pid</a:t>
            </a:r>
            <a:r>
              <a:rPr lang="en-US" sz="1200" dirty="0">
                <a:solidFill>
                  <a:srgbClr val="0F2027"/>
                </a:solidFill>
                <a:ea typeface="Courier New" panose="02070309020205020404" pitchFamily="34" charset="-122"/>
                <a:cs typeface="Courier New" panose="02070309020205020404" pitchFamily="34" charset="-120"/>
              </a:rPr>
              <a:t> = </a:t>
            </a:r>
            <a:r>
              <a:rPr lang="en-US" sz="1200" b="1" dirty="0">
                <a:solidFill>
                  <a:srgbClr val="00B0F0"/>
                </a:solidFill>
                <a:ea typeface="Courier New" panose="02070309020205020404" pitchFamily="34" charset="-122"/>
                <a:cs typeface="Courier New" panose="02070309020205020404" pitchFamily="34" charset="-120"/>
              </a:rPr>
              <a:t>fork(); </a:t>
            </a:r>
            <a:endParaRPr lang="en-US" sz="1200" b="1" dirty="0">
              <a:solidFill>
                <a:srgbClr val="00B0F0"/>
              </a:solidFill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 algn="l">
              <a:buNone/>
            </a:pPr>
            <a:endParaRPr lang="en-US" sz="1200" dirty="0">
              <a:solidFill>
                <a:srgbClr val="0F2027"/>
              </a:solidFill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 algn="l">
              <a:buNone/>
            </a:pPr>
            <a:r>
              <a:rPr lang="en-US" sz="1200" dirty="0">
                <a:solidFill>
                  <a:srgbClr val="0F2027"/>
                </a:solidFill>
                <a:ea typeface="Courier New" panose="02070309020205020404" pitchFamily="34" charset="-122"/>
                <a:cs typeface="Courier New" panose="02070309020205020404" pitchFamily="34" charset="-120"/>
              </a:rPr>
              <a:t>if (</a:t>
            </a:r>
            <a:r>
              <a:rPr lang="en-US" sz="1200" dirty="0" err="1">
                <a:solidFill>
                  <a:srgbClr val="0F2027"/>
                </a:solidFill>
                <a:ea typeface="Courier New" panose="02070309020205020404" pitchFamily="34" charset="-122"/>
                <a:cs typeface="Courier New" panose="02070309020205020404" pitchFamily="34" charset="-120"/>
              </a:rPr>
              <a:t>child_pid</a:t>
            </a:r>
            <a:r>
              <a:rPr lang="en-US" sz="1200" dirty="0">
                <a:solidFill>
                  <a:srgbClr val="0F2027"/>
                </a:solidFill>
                <a:ea typeface="Courier New" panose="02070309020205020404" pitchFamily="34" charset="-122"/>
                <a:cs typeface="Courier New" panose="02070309020205020404" pitchFamily="34" charset="-120"/>
              </a:rPr>
              <a:t> == 0) </a:t>
            </a:r>
            <a:r>
              <a:rPr lang="en-US" sz="1200" b="1" dirty="0">
                <a:solidFill>
                  <a:srgbClr val="0F2027"/>
                </a:solidFill>
                <a:ea typeface="Courier New" panose="02070309020205020404" pitchFamily="34" charset="-122"/>
                <a:cs typeface="Courier New" panose="02070309020205020404" pitchFamily="34" charset="-120"/>
              </a:rPr>
              <a:t>{  </a:t>
            </a:r>
            <a:r>
              <a:rPr lang="en-US" sz="1200" dirty="0">
                <a:solidFill>
                  <a:srgbClr val="0F2027"/>
                </a:solidFill>
                <a:ea typeface="Courier New" panose="02070309020205020404" pitchFamily="34" charset="-122"/>
                <a:cs typeface="Courier New" panose="02070309020205020404" pitchFamily="34" charset="-120"/>
              </a:rPr>
              <a:t>  </a:t>
            </a:r>
            <a:endParaRPr lang="en-US" sz="1200" dirty="0">
              <a:solidFill>
                <a:srgbClr val="0F2027"/>
              </a:solidFill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 algn="l">
              <a:buNone/>
            </a:pPr>
            <a:r>
              <a:rPr lang="en-US" sz="1200" dirty="0">
                <a:solidFill>
                  <a:srgbClr val="0F2027"/>
                </a:solidFill>
                <a:ea typeface="Courier New" panose="02070309020205020404" pitchFamily="34" charset="-122"/>
                <a:cs typeface="Courier New" panose="02070309020205020404" pitchFamily="34" charset="-120"/>
              </a:rPr>
              <a:t>     </a:t>
            </a:r>
            <a:r>
              <a:rPr lang="en-US" sz="1200" dirty="0" err="1">
                <a:solidFill>
                  <a:srgbClr val="0F2027"/>
                </a:solidFill>
                <a:ea typeface="Courier New" panose="02070309020205020404" pitchFamily="34" charset="-122"/>
                <a:cs typeface="Courier New" panose="02070309020205020404" pitchFamily="34" charset="-120"/>
              </a:rPr>
              <a:t>setup_redirection</a:t>
            </a:r>
            <a:r>
              <a:rPr lang="en-US" sz="1200" dirty="0">
                <a:solidFill>
                  <a:srgbClr val="0F2027"/>
                </a:solidFill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200" dirty="0" err="1">
                <a:solidFill>
                  <a:srgbClr val="0F2027"/>
                </a:solidFill>
                <a:ea typeface="Courier New" panose="02070309020205020404" pitchFamily="34" charset="-122"/>
                <a:cs typeface="Courier New" panose="02070309020205020404" pitchFamily="34" charset="-120"/>
              </a:rPr>
              <a:t>exec_args</a:t>
            </a:r>
            <a:r>
              <a:rPr lang="en-US" sz="1200" dirty="0">
                <a:solidFill>
                  <a:srgbClr val="0F2027"/>
                </a:solidFill>
                <a:ea typeface="Courier New" panose="02070309020205020404" pitchFamily="34" charset="-122"/>
                <a:cs typeface="Courier New" panose="02070309020205020404" pitchFamily="34" charset="-120"/>
              </a:rPr>
              <a:t>); </a:t>
            </a:r>
            <a:endParaRPr lang="en-US" sz="1200" dirty="0">
              <a:solidFill>
                <a:srgbClr val="0F2027"/>
              </a:solidFill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 algn="l">
              <a:buNone/>
            </a:pPr>
            <a:endParaRPr lang="en-US" sz="1200" dirty="0">
              <a:solidFill>
                <a:srgbClr val="0F2027"/>
              </a:solidFill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 algn="l">
              <a:buNone/>
            </a:pPr>
            <a:r>
              <a:rPr lang="en-US" sz="1200" dirty="0">
                <a:solidFill>
                  <a:srgbClr val="0F2027"/>
                </a:solidFill>
                <a:ea typeface="Courier New" panose="02070309020205020404" pitchFamily="34" charset="-122"/>
                <a:cs typeface="Courier New" panose="02070309020205020404" pitchFamily="34" charset="-120"/>
              </a:rPr>
              <a:t>if (</a:t>
            </a:r>
            <a:r>
              <a:rPr lang="en-US" sz="1200" dirty="0" err="1">
                <a:solidFill>
                  <a:srgbClr val="0F2027"/>
                </a:solidFill>
                <a:ea typeface="Courier New" panose="02070309020205020404" pitchFamily="34" charset="-122"/>
                <a:cs typeface="Courier New" panose="02070309020205020404" pitchFamily="34" charset="-120"/>
              </a:rPr>
              <a:t>execvp</a:t>
            </a:r>
            <a:r>
              <a:rPr lang="en-US" sz="1200" dirty="0">
                <a:solidFill>
                  <a:srgbClr val="0F2027"/>
                </a:solidFill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200" dirty="0" err="1">
                <a:solidFill>
                  <a:srgbClr val="0F2027"/>
                </a:solidFill>
                <a:ea typeface="Courier New" panose="02070309020205020404" pitchFamily="34" charset="-122"/>
                <a:cs typeface="Courier New" panose="02070309020205020404" pitchFamily="34" charset="-120"/>
              </a:rPr>
              <a:t>exec_args</a:t>
            </a:r>
            <a:r>
              <a:rPr lang="en-US" sz="1200" dirty="0">
                <a:solidFill>
                  <a:srgbClr val="0F2027"/>
                </a:solidFill>
                <a:ea typeface="Courier New" panose="02070309020205020404" pitchFamily="34" charset="-122"/>
                <a:cs typeface="Courier New" panose="02070309020205020404" pitchFamily="34" charset="-120"/>
              </a:rPr>
              <a:t>[0], </a:t>
            </a:r>
            <a:r>
              <a:rPr lang="en-US" sz="1200" dirty="0" err="1">
                <a:solidFill>
                  <a:srgbClr val="0F2027"/>
                </a:solidFill>
                <a:ea typeface="Courier New" panose="02070309020205020404" pitchFamily="34" charset="-122"/>
                <a:cs typeface="Courier New" panose="02070309020205020404" pitchFamily="34" charset="-120"/>
              </a:rPr>
              <a:t>exec_args</a:t>
            </a:r>
            <a:r>
              <a:rPr lang="en-US" sz="1200" dirty="0">
                <a:solidFill>
                  <a:srgbClr val="0F2027"/>
                </a:solidFill>
                <a:ea typeface="Courier New" panose="02070309020205020404" pitchFamily="34" charset="-122"/>
                <a:cs typeface="Courier New" panose="02070309020205020404" pitchFamily="34" charset="-120"/>
              </a:rPr>
              <a:t>) == -1) {</a:t>
            </a:r>
            <a:endParaRPr lang="en-US" sz="1200" dirty="0">
              <a:solidFill>
                <a:srgbClr val="0F2027"/>
              </a:solidFill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 algn="l">
              <a:buNone/>
            </a:pPr>
            <a:r>
              <a:rPr lang="en-US" sz="1200" dirty="0">
                <a:solidFill>
                  <a:srgbClr val="0F2027"/>
                </a:solidFill>
                <a:ea typeface="Courier New" panose="02070309020205020404" pitchFamily="34" charset="-122"/>
                <a:cs typeface="Courier New" panose="02070309020205020404" pitchFamily="34" charset="-120"/>
              </a:rPr>
              <a:t>       </a:t>
            </a:r>
            <a:r>
              <a:rPr lang="en-US" sz="1200" dirty="0">
                <a:solidFill>
                  <a:schemeClr val="accent2">
                    <a:lumMod val="75000"/>
                  </a:schemeClr>
                </a:solidFill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200" dirty="0" err="1">
                <a:solidFill>
                  <a:schemeClr val="accent2">
                    <a:lumMod val="75000"/>
                  </a:schemeClr>
                </a:solidFill>
                <a:ea typeface="Courier New" panose="02070309020205020404" pitchFamily="34" charset="-122"/>
                <a:cs typeface="Courier New" panose="02070309020205020404" pitchFamily="34" charset="-120"/>
              </a:rPr>
              <a:t>printf</a:t>
            </a:r>
            <a:r>
              <a:rPr lang="en-US" sz="1200" dirty="0">
                <a:solidFill>
                  <a:srgbClr val="0F2027"/>
                </a:solidFill>
                <a:ea typeface="Courier New" panose="02070309020205020404" pitchFamily="34" charset="-122"/>
                <a:cs typeface="Courier New" panose="02070309020205020404" pitchFamily="34" charset="-120"/>
              </a:rPr>
              <a:t>(RED "  </a:t>
            </a:r>
            <a:r>
              <a:rPr lang="en-US" sz="1200" dirty="0">
                <a:solidFill>
                  <a:srgbClr val="FF0000"/>
                </a:solidFill>
                <a:ea typeface="Courier New" panose="02070309020205020404" pitchFamily="34" charset="-122"/>
                <a:cs typeface="Courier New" panose="02070309020205020404" pitchFamily="34" charset="-120"/>
              </a:rPr>
              <a:t>Command not found: '%s'\n</a:t>
            </a:r>
            <a:r>
              <a:rPr lang="en-US" sz="1200" dirty="0">
                <a:solidFill>
                  <a:srgbClr val="0F2027"/>
                </a:solidFill>
                <a:ea typeface="Courier New" panose="02070309020205020404" pitchFamily="34" charset="-122"/>
                <a:cs typeface="Courier New" panose="02070309020205020404" pitchFamily="34" charset="-120"/>
              </a:rPr>
              <a:t>" RESET, </a:t>
            </a:r>
            <a:r>
              <a:rPr lang="en-US" sz="1200" dirty="0" err="1">
                <a:solidFill>
                  <a:srgbClr val="0F2027"/>
                </a:solidFill>
                <a:ea typeface="Courier New" panose="02070309020205020404" pitchFamily="34" charset="-122"/>
                <a:cs typeface="Courier New" panose="02070309020205020404" pitchFamily="34" charset="-120"/>
              </a:rPr>
              <a:t>exec_args</a:t>
            </a:r>
            <a:r>
              <a:rPr lang="en-US" sz="1200" dirty="0">
                <a:solidFill>
                  <a:srgbClr val="0F2027"/>
                </a:solidFill>
                <a:ea typeface="Courier New" panose="02070309020205020404" pitchFamily="34" charset="-122"/>
                <a:cs typeface="Courier New" panose="02070309020205020404" pitchFamily="34" charset="-120"/>
              </a:rPr>
              <a:t>[0]);</a:t>
            </a:r>
            <a:endParaRPr lang="en-US" sz="1200" dirty="0">
              <a:solidFill>
                <a:srgbClr val="0F2027"/>
              </a:solidFill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 algn="l">
              <a:buNone/>
            </a:pPr>
            <a:r>
              <a:rPr lang="en-US" sz="1200" dirty="0">
                <a:solidFill>
                  <a:srgbClr val="0F2027"/>
                </a:solidFill>
                <a:ea typeface="Courier New" panose="02070309020205020404" pitchFamily="34" charset="-122"/>
                <a:cs typeface="Courier New" panose="02070309020205020404" pitchFamily="34" charset="-120"/>
              </a:rPr>
              <a:t>        </a:t>
            </a:r>
            <a:r>
              <a:rPr lang="en-US" sz="1200" dirty="0">
                <a:solidFill>
                  <a:schemeClr val="accent2">
                    <a:lumMod val="75000"/>
                  </a:schemeClr>
                </a:solidFill>
                <a:ea typeface="Courier New" panose="02070309020205020404" pitchFamily="34" charset="-122"/>
                <a:cs typeface="Courier New" panose="02070309020205020404" pitchFamily="34" charset="-120"/>
              </a:rPr>
              <a:t>exit</a:t>
            </a:r>
            <a:r>
              <a:rPr lang="en-US" sz="1200" dirty="0">
                <a:solidFill>
                  <a:srgbClr val="0F2027"/>
                </a:solidFill>
                <a:ea typeface="Courier New" panose="02070309020205020404" pitchFamily="34" charset="-122"/>
                <a:cs typeface="Courier New" panose="02070309020205020404" pitchFamily="34" charset="-120"/>
              </a:rPr>
              <a:t>(EXIT_FAILURE);</a:t>
            </a:r>
            <a:endParaRPr lang="en-US" sz="1200" dirty="0">
              <a:solidFill>
                <a:srgbClr val="0F2027"/>
              </a:solidFill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 algn="l">
              <a:buNone/>
            </a:pPr>
            <a:r>
              <a:rPr lang="en-US" sz="1200" dirty="0">
                <a:solidFill>
                  <a:srgbClr val="0F2027"/>
                </a:solidFill>
                <a:ea typeface="Courier New" panose="02070309020205020404" pitchFamily="34" charset="-122"/>
                <a:cs typeface="Courier New" panose="02070309020205020404" pitchFamily="34" charset="-120"/>
              </a:rPr>
              <a:t>    </a:t>
            </a:r>
            <a:r>
              <a:rPr lang="en-US" sz="1200" dirty="0">
                <a:solidFill>
                  <a:srgbClr val="0F2027"/>
                </a:solidFill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endParaRPr lang="en-US" sz="1200" dirty="0">
              <a:solidFill>
                <a:srgbClr val="0F2027"/>
              </a:solidFill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 algn="l">
              <a:buNone/>
            </a:pPr>
            <a:r>
              <a:rPr lang="en-US" sz="1200" b="1" dirty="0">
                <a:solidFill>
                  <a:srgbClr val="0F2027"/>
                </a:solidFill>
                <a:ea typeface="Courier New" panose="02070309020205020404" pitchFamily="34" charset="-122"/>
                <a:cs typeface="Courier New" panose="02070309020205020404" pitchFamily="34" charset="-120"/>
              </a:rPr>
              <a:t>} </a:t>
            </a:r>
            <a:endParaRPr lang="en-US" sz="1200" b="1" dirty="0">
              <a:solidFill>
                <a:srgbClr val="0F2027"/>
              </a:solidFill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 algn="l">
              <a:buNone/>
            </a:pPr>
            <a:r>
              <a:rPr lang="en-US" sz="1200" dirty="0">
                <a:solidFill>
                  <a:srgbClr val="0F2027"/>
                </a:solidFill>
                <a:ea typeface="Courier New" panose="02070309020205020404" pitchFamily="34" charset="-122"/>
                <a:cs typeface="Courier New" panose="02070309020205020404" pitchFamily="34" charset="-120"/>
              </a:rPr>
              <a:t>else if (</a:t>
            </a:r>
            <a:r>
              <a:rPr lang="en-US" sz="1200" dirty="0" err="1">
                <a:solidFill>
                  <a:srgbClr val="0F2027"/>
                </a:solidFill>
                <a:ea typeface="Courier New" panose="02070309020205020404" pitchFamily="34" charset="-122"/>
                <a:cs typeface="Courier New" panose="02070309020205020404" pitchFamily="34" charset="-120"/>
              </a:rPr>
              <a:t>child_pid</a:t>
            </a:r>
            <a:r>
              <a:rPr lang="en-US" sz="1200" dirty="0">
                <a:solidFill>
                  <a:srgbClr val="0F2027"/>
                </a:solidFill>
                <a:ea typeface="Courier New" panose="02070309020205020404" pitchFamily="34" charset="-122"/>
                <a:cs typeface="Courier New" panose="02070309020205020404" pitchFamily="34" charset="-120"/>
              </a:rPr>
              <a:t> &gt; 0)</a:t>
            </a:r>
            <a:r>
              <a:rPr lang="en-US" sz="1200" b="1" dirty="0">
                <a:solidFill>
                  <a:srgbClr val="0F2027"/>
                </a:solidFill>
                <a:ea typeface="Courier New" panose="02070309020205020404" pitchFamily="34" charset="-122"/>
                <a:cs typeface="Courier New" panose="02070309020205020404" pitchFamily="34" charset="-120"/>
              </a:rPr>
              <a:t> {</a:t>
            </a:r>
            <a:endParaRPr lang="en-US" sz="1200" b="1" dirty="0">
              <a:solidFill>
                <a:srgbClr val="0F2027"/>
              </a:solidFill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 algn="l">
              <a:buNone/>
            </a:pPr>
            <a:r>
              <a:rPr lang="en-US" sz="1200" dirty="0">
                <a:solidFill>
                  <a:srgbClr val="0F2027"/>
                </a:solidFill>
                <a:ea typeface="Courier New" panose="02070309020205020404" pitchFamily="34" charset="-122"/>
                <a:cs typeface="Courier New" panose="02070309020205020404" pitchFamily="34" charset="-120"/>
              </a:rPr>
              <a:t>if (</a:t>
            </a:r>
            <a:r>
              <a:rPr lang="en-US" sz="1200" dirty="0" err="1">
                <a:solidFill>
                  <a:srgbClr val="0F2027"/>
                </a:solidFill>
                <a:ea typeface="Courier New" panose="02070309020205020404" pitchFamily="34" charset="-122"/>
                <a:cs typeface="Courier New" panose="02070309020205020404" pitchFamily="34" charset="-120"/>
              </a:rPr>
              <a:t>run_in_background</a:t>
            </a:r>
            <a:r>
              <a:rPr lang="en-US" sz="1200" dirty="0">
                <a:solidFill>
                  <a:srgbClr val="0F2027"/>
                </a:solidFill>
                <a:ea typeface="Courier New" panose="02070309020205020404" pitchFamily="34" charset="-122"/>
                <a:cs typeface="Courier New" panose="02070309020205020404" pitchFamily="34" charset="-120"/>
              </a:rPr>
              <a:t> == 0)</a:t>
            </a:r>
            <a:endParaRPr lang="en-US" sz="1200" dirty="0">
              <a:solidFill>
                <a:srgbClr val="0F2027"/>
              </a:solidFill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 algn="l">
              <a:buNone/>
            </a:pPr>
            <a:r>
              <a:rPr lang="en-US" sz="1200" dirty="0">
                <a:solidFill>
                  <a:schemeClr val="accent2">
                    <a:lumMod val="75000"/>
                  </a:schemeClr>
                </a:solidFill>
                <a:ea typeface="Courier New" panose="02070309020205020404" pitchFamily="34" charset="-122"/>
                <a:cs typeface="Courier New" panose="02070309020205020404" pitchFamily="34" charset="-120"/>
              </a:rPr>
              <a:t>        </a:t>
            </a:r>
            <a:r>
              <a:rPr lang="en-US" sz="1200" dirty="0" err="1">
                <a:solidFill>
                  <a:schemeClr val="accent2">
                    <a:lumMod val="75000"/>
                  </a:schemeClr>
                </a:solidFill>
                <a:ea typeface="Courier New" panose="02070309020205020404" pitchFamily="34" charset="-122"/>
                <a:cs typeface="Courier New" panose="02070309020205020404" pitchFamily="34" charset="-120"/>
              </a:rPr>
              <a:t>waitpid</a:t>
            </a:r>
            <a:r>
              <a:rPr lang="en-US" sz="1200" dirty="0">
                <a:solidFill>
                  <a:srgbClr val="0F2027"/>
                </a:solidFill>
                <a:ea typeface="Courier New" panose="02070309020205020404" pitchFamily="34" charset="-122"/>
                <a:cs typeface="Courier New" panose="02070309020205020404" pitchFamily="34" charset="-120"/>
              </a:rPr>
              <a:t>(</a:t>
            </a:r>
            <a:r>
              <a:rPr lang="en-US" sz="1200" dirty="0" err="1">
                <a:solidFill>
                  <a:srgbClr val="0F2027"/>
                </a:solidFill>
                <a:ea typeface="Courier New" panose="02070309020205020404" pitchFamily="34" charset="-122"/>
                <a:cs typeface="Courier New" panose="02070309020205020404" pitchFamily="34" charset="-120"/>
              </a:rPr>
              <a:t>child_pid</a:t>
            </a:r>
            <a:r>
              <a:rPr lang="en-US" sz="1200" dirty="0">
                <a:solidFill>
                  <a:srgbClr val="0F2027"/>
                </a:solidFill>
                <a:ea typeface="Courier New" panose="02070309020205020404" pitchFamily="34" charset="-122"/>
                <a:cs typeface="Courier New" panose="02070309020205020404" pitchFamily="34" charset="-120"/>
              </a:rPr>
              <a:t>, NULL, 0); </a:t>
            </a:r>
            <a:endParaRPr lang="en-US" sz="1200" dirty="0">
              <a:solidFill>
                <a:srgbClr val="0F2027"/>
              </a:solidFill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 algn="l">
              <a:buNone/>
            </a:pPr>
            <a:r>
              <a:rPr lang="en-US" sz="1200" dirty="0">
                <a:solidFill>
                  <a:srgbClr val="0F2027"/>
                </a:solidFill>
                <a:ea typeface="Courier New" panose="02070309020205020404" pitchFamily="34" charset="-122"/>
                <a:cs typeface="Courier New" panose="02070309020205020404" pitchFamily="34" charset="-120"/>
              </a:rPr>
              <a:t>    else</a:t>
            </a:r>
            <a:endParaRPr lang="en-US" sz="1200" dirty="0">
              <a:solidFill>
                <a:srgbClr val="0F2027"/>
              </a:solidFill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 algn="l">
              <a:buNone/>
            </a:pPr>
            <a:r>
              <a:rPr lang="en-US" sz="1200" dirty="0">
                <a:solidFill>
                  <a:srgbClr val="0F2027"/>
                </a:solidFill>
                <a:ea typeface="Courier New" panose="02070309020205020404" pitchFamily="34" charset="-122"/>
                <a:cs typeface="Courier New" panose="02070309020205020404" pitchFamily="34" charset="-120"/>
              </a:rPr>
              <a:t>        </a:t>
            </a:r>
            <a:r>
              <a:rPr lang="en-US" sz="1200" dirty="0" err="1">
                <a:solidFill>
                  <a:schemeClr val="accent2">
                    <a:lumMod val="75000"/>
                  </a:schemeClr>
                </a:solidFill>
                <a:ea typeface="Courier New" panose="02070309020205020404" pitchFamily="34" charset="-122"/>
                <a:cs typeface="Courier New" panose="02070309020205020404" pitchFamily="34" charset="-120"/>
              </a:rPr>
              <a:t>printf</a:t>
            </a:r>
            <a:r>
              <a:rPr lang="en-US" sz="1200" dirty="0">
                <a:solidFill>
                  <a:srgbClr val="0F2027"/>
                </a:solidFill>
                <a:ea typeface="Courier New" panose="02070309020205020404" pitchFamily="34" charset="-122"/>
                <a:cs typeface="Courier New" panose="02070309020205020404" pitchFamily="34" charset="-120"/>
              </a:rPr>
              <a:t>(CYAN </a:t>
            </a:r>
            <a:r>
              <a:rPr lang="en-US" sz="1200" dirty="0">
                <a:solidFill>
                  <a:srgbClr val="FF0000"/>
                </a:solidFill>
                <a:ea typeface="Courier New" panose="02070309020205020404" pitchFamily="34" charset="-122"/>
                <a:cs typeface="Courier New" panose="02070309020205020404" pitchFamily="34" charset="-120"/>
              </a:rPr>
              <a:t>"  [Background PID: %d]\n</a:t>
            </a:r>
            <a:r>
              <a:rPr lang="en-US" sz="1200" dirty="0">
                <a:solidFill>
                  <a:srgbClr val="0F2027"/>
                </a:solidFill>
                <a:ea typeface="Courier New" panose="02070309020205020404" pitchFamily="34" charset="-122"/>
                <a:cs typeface="Courier New" panose="02070309020205020404" pitchFamily="34" charset="-120"/>
              </a:rPr>
              <a:t>" RESET, </a:t>
            </a:r>
            <a:r>
              <a:rPr lang="en-US" sz="1200" dirty="0" err="1">
                <a:solidFill>
                  <a:srgbClr val="0F2027"/>
                </a:solidFill>
                <a:ea typeface="Courier New" panose="02070309020205020404" pitchFamily="34" charset="-122"/>
                <a:cs typeface="Courier New" panose="02070309020205020404" pitchFamily="34" charset="-120"/>
              </a:rPr>
              <a:t>child_pid</a:t>
            </a:r>
            <a:r>
              <a:rPr lang="en-US" sz="1200" dirty="0">
                <a:solidFill>
                  <a:srgbClr val="0F2027"/>
                </a:solidFill>
                <a:ea typeface="Courier New" panose="02070309020205020404" pitchFamily="34" charset="-122"/>
                <a:cs typeface="Courier New" panose="02070309020205020404" pitchFamily="34" charset="-120"/>
              </a:rPr>
              <a:t>);</a:t>
            </a:r>
            <a:endParaRPr lang="en-US" sz="1200" dirty="0">
              <a:solidFill>
                <a:srgbClr val="0F2027"/>
              </a:solidFill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 algn="l">
              <a:buNone/>
            </a:pPr>
            <a:r>
              <a:rPr lang="en-US" sz="1200" b="1" dirty="0">
                <a:solidFill>
                  <a:srgbClr val="0F2027"/>
                </a:solidFill>
                <a:ea typeface="Courier New" panose="02070309020205020404" pitchFamily="34" charset="-122"/>
                <a:cs typeface="Courier New" panose="02070309020205020404" pitchFamily="34" charset="-120"/>
              </a:rPr>
              <a:t>} </a:t>
            </a:r>
            <a:endParaRPr lang="en-US" sz="1200" b="1" dirty="0">
              <a:solidFill>
                <a:srgbClr val="0F2027"/>
              </a:solidFill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 algn="l">
              <a:buNone/>
            </a:pPr>
            <a:r>
              <a:rPr lang="en-US" sz="1200" dirty="0">
                <a:solidFill>
                  <a:srgbClr val="0F2027"/>
                </a:solidFill>
                <a:ea typeface="Courier New" panose="02070309020205020404" pitchFamily="34" charset="-122"/>
                <a:cs typeface="Courier New" panose="02070309020205020404" pitchFamily="34" charset="-120"/>
              </a:rPr>
              <a:t>else</a:t>
            </a:r>
            <a:r>
              <a:rPr lang="en-US" sz="1200" b="1" dirty="0">
                <a:solidFill>
                  <a:srgbClr val="0F2027"/>
                </a:solidFill>
                <a:ea typeface="Courier New" panose="02070309020205020404" pitchFamily="34" charset="-122"/>
                <a:cs typeface="Courier New" panose="02070309020205020404" pitchFamily="34" charset="-120"/>
              </a:rPr>
              <a:t> {</a:t>
            </a:r>
            <a:endParaRPr lang="en-US" sz="1200" b="1" dirty="0">
              <a:solidFill>
                <a:srgbClr val="0F2027"/>
              </a:solidFill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 algn="l">
              <a:buNone/>
            </a:pPr>
            <a:r>
              <a:rPr lang="en-US" sz="1200" dirty="0" err="1">
                <a:solidFill>
                  <a:schemeClr val="accent2">
                    <a:lumMod val="75000"/>
                  </a:schemeClr>
                </a:solidFill>
                <a:ea typeface="Courier New" panose="02070309020205020404" pitchFamily="34" charset="-122"/>
                <a:cs typeface="Courier New" panose="02070309020205020404" pitchFamily="34" charset="-120"/>
              </a:rPr>
              <a:t>perror</a:t>
            </a:r>
            <a:r>
              <a:rPr lang="en-US" sz="1200" dirty="0">
                <a:solidFill>
                  <a:srgbClr val="0F2027"/>
                </a:solidFill>
                <a:ea typeface="Courier New" panose="02070309020205020404" pitchFamily="34" charset="-122"/>
                <a:cs typeface="Courier New" panose="02070309020205020404" pitchFamily="34" charset="-120"/>
              </a:rPr>
              <a:t>(RED </a:t>
            </a:r>
            <a:r>
              <a:rPr lang="en-US" sz="1200" dirty="0">
                <a:solidFill>
                  <a:srgbClr val="FF0000"/>
                </a:solidFill>
                <a:ea typeface="Courier New" panose="02070309020205020404" pitchFamily="34" charset="-122"/>
                <a:cs typeface="Courier New" panose="02070309020205020404" pitchFamily="34" charset="-120"/>
              </a:rPr>
              <a:t>"  fork() failed</a:t>
            </a:r>
            <a:r>
              <a:rPr lang="en-US" sz="1200" dirty="0">
                <a:solidFill>
                  <a:srgbClr val="0F2027"/>
                </a:solidFill>
                <a:ea typeface="Courier New" panose="02070309020205020404" pitchFamily="34" charset="-122"/>
                <a:cs typeface="Courier New" panose="02070309020205020404" pitchFamily="34" charset="-120"/>
              </a:rPr>
              <a:t>" RESET);</a:t>
            </a:r>
            <a:endParaRPr lang="en-US" sz="1200" dirty="0">
              <a:solidFill>
                <a:srgbClr val="0F2027"/>
              </a:solidFill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 algn="l">
              <a:buNone/>
            </a:pPr>
            <a:r>
              <a:rPr lang="en-US" sz="1200" b="1" dirty="0">
                <a:solidFill>
                  <a:srgbClr val="0F2027"/>
                </a:solidFill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endParaRPr lang="en-US" sz="1200" b="1" dirty="0"/>
          </a:p>
        </p:txBody>
      </p:sp>
      <p:grpSp>
        <p:nvGrpSpPr>
          <p:cNvPr id="3" name="Group 2"/>
          <p:cNvGrpSpPr/>
          <p:nvPr/>
        </p:nvGrpSpPr>
        <p:grpSpPr>
          <a:xfrm>
            <a:off x="5951220" y="1097280"/>
            <a:ext cx="2125980" cy="3337560"/>
            <a:chOff x="8748" y="1728"/>
            <a:chExt cx="3348" cy="5256"/>
          </a:xfrm>
        </p:grpSpPr>
        <p:sp>
          <p:nvSpPr>
            <p:cNvPr id="15" name="Shape 13"/>
            <p:cNvSpPr/>
            <p:nvPr/>
          </p:nvSpPr>
          <p:spPr>
            <a:xfrm>
              <a:off x="8784" y="1728"/>
              <a:ext cx="3312" cy="936"/>
            </a:xfrm>
            <a:prstGeom prst="rect">
              <a:avLst/>
            </a:prstGeom>
            <a:solidFill>
              <a:srgbClr val="0F766E"/>
            </a:solidFill>
            <a:ln w="12700">
              <a:solidFill>
                <a:schemeClr val="tx2">
                  <a:lumMod val="20000"/>
                  <a:lumOff val="80000"/>
                </a:schemeClr>
              </a:solidFill>
              <a:prstDash val="solid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sp>
        <p:sp>
          <p:nvSpPr>
            <p:cNvPr id="16" name="Text 14"/>
            <p:cNvSpPr/>
            <p:nvPr/>
          </p:nvSpPr>
          <p:spPr>
            <a:xfrm>
              <a:off x="8784" y="1728"/>
              <a:ext cx="3312" cy="93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</a:rPr>
                <a:t>Parent Process</a:t>
              </a:r>
              <a:endParaRPr lang="en-US" sz="1600" dirty="0"/>
            </a:p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</a:rPr>
                <a:t>(MyShell)</a:t>
              </a:r>
              <a:endParaRPr lang="en-US" sz="16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8784" y="3168"/>
              <a:ext cx="3312" cy="936"/>
            </a:xfrm>
            <a:prstGeom prst="rect">
              <a:avLst/>
            </a:prstGeom>
            <a:solidFill>
              <a:srgbClr val="06B6D4"/>
            </a:solidFill>
            <a:ln w="12700">
              <a:solidFill>
                <a:schemeClr val="tx2">
                  <a:lumMod val="20000"/>
                  <a:lumOff val="80000"/>
                </a:schemeClr>
              </a:solidFill>
              <a:prstDash val="solid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sp>
        <p:sp>
          <p:nvSpPr>
            <p:cNvPr id="18" name="Text 16"/>
            <p:cNvSpPr/>
            <p:nvPr/>
          </p:nvSpPr>
          <p:spPr>
            <a:xfrm>
              <a:off x="8784" y="3168"/>
              <a:ext cx="3312" cy="93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</a:rPr>
                <a:t>fork()</a:t>
              </a:r>
              <a:endParaRPr lang="en-US" sz="16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8784" y="4608"/>
              <a:ext cx="3312" cy="936"/>
            </a:xfrm>
            <a:prstGeom prst="rect">
              <a:avLst/>
            </a:prstGeom>
            <a:solidFill>
              <a:srgbClr val="0D9488"/>
            </a:solidFill>
            <a:ln w="12700">
              <a:solidFill>
                <a:schemeClr val="tx2">
                  <a:lumMod val="20000"/>
                  <a:lumOff val="80000"/>
                </a:schemeClr>
              </a:solidFill>
              <a:prstDash val="solid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sp>
        <p:sp>
          <p:nvSpPr>
            <p:cNvPr id="20" name="Text 18"/>
            <p:cNvSpPr/>
            <p:nvPr/>
          </p:nvSpPr>
          <p:spPr>
            <a:xfrm>
              <a:off x="8748" y="4608"/>
              <a:ext cx="3312" cy="93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</a:rPr>
                <a:t>Child Process</a:t>
              </a:r>
              <a:endParaRPr lang="en-US" sz="16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8784" y="6048"/>
              <a:ext cx="3312" cy="936"/>
            </a:xfrm>
            <a:prstGeom prst="rect">
              <a:avLst/>
            </a:prstGeom>
            <a:solidFill>
              <a:srgbClr val="0D9488"/>
            </a:solidFill>
            <a:ln w="12700">
              <a:solidFill>
                <a:schemeClr val="tx2">
                  <a:lumMod val="20000"/>
                  <a:lumOff val="80000"/>
                </a:schemeClr>
              </a:solidFill>
              <a:prstDash val="solid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sp>
        <p:sp>
          <p:nvSpPr>
            <p:cNvPr id="22" name="Text 20"/>
            <p:cNvSpPr/>
            <p:nvPr/>
          </p:nvSpPr>
          <p:spPr>
            <a:xfrm>
              <a:off x="9144" y="6048"/>
              <a:ext cx="2448" cy="93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</a:rPr>
                <a:t>execvp(cmd)</a:t>
              </a:r>
              <a:endParaRPr lang="en-US" sz="16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10440" y="2664"/>
              <a:ext cx="0" cy="504"/>
            </a:xfrm>
            <a:prstGeom prst="line">
              <a:avLst/>
            </a:prstGeom>
            <a:noFill/>
            <a:ln w="19050">
              <a:solidFill>
                <a:srgbClr val="0D9488"/>
              </a:solidFill>
              <a:prstDash val="solid"/>
            </a:ln>
          </p:spPr>
        </p:sp>
        <p:sp>
          <p:nvSpPr>
            <p:cNvPr id="24" name="Shape 22"/>
            <p:cNvSpPr/>
            <p:nvPr/>
          </p:nvSpPr>
          <p:spPr>
            <a:xfrm>
              <a:off x="10440" y="4097"/>
              <a:ext cx="0" cy="504"/>
            </a:xfrm>
            <a:prstGeom prst="line">
              <a:avLst/>
            </a:prstGeom>
            <a:noFill/>
            <a:ln w="19050">
              <a:solidFill>
                <a:srgbClr val="0D9488"/>
              </a:solidFill>
              <a:prstDash val="solid"/>
            </a:ln>
          </p:spPr>
        </p:sp>
        <p:sp>
          <p:nvSpPr>
            <p:cNvPr id="25" name="Shape 23"/>
            <p:cNvSpPr/>
            <p:nvPr/>
          </p:nvSpPr>
          <p:spPr>
            <a:xfrm>
              <a:off x="10440" y="5608"/>
              <a:ext cx="0" cy="504"/>
            </a:xfrm>
            <a:prstGeom prst="line">
              <a:avLst/>
            </a:prstGeom>
            <a:noFill/>
            <a:ln w="19050">
              <a:solidFill>
                <a:srgbClr val="0D9488"/>
              </a:solidFill>
              <a:prstDash val="solid"/>
            </a:ln>
          </p:spPr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CFBF1"/>
          </a:solidFill>
          <a:ln w="12700">
            <a:solidFill>
              <a:srgbClr val="B2DF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01184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 err="1">
                <a:solidFill>
                  <a:srgbClr val="0F766E"/>
                </a:solidFill>
              </a:rPr>
              <a:t>MyShell</a:t>
            </a:r>
            <a:r>
              <a:rPr lang="en-US" sz="1200" dirty="0">
                <a:solidFill>
                  <a:srgbClr val="0F766E"/>
                </a:solidFill>
              </a:rPr>
              <a:t>  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503920" y="4901184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D9488"/>
                </a:solidFill>
              </a:rPr>
              <a:t>7</a:t>
            </a:r>
            <a:endParaRPr lang="en-US" sz="1200" b="1" dirty="0">
              <a:solidFill>
                <a:srgbClr val="0D9488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228600" y="143715"/>
            <a:ext cx="8595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76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I/O Redirection &amp; Pipes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228600" y="674067"/>
            <a:ext cx="8686800" cy="0"/>
          </a:xfrm>
          <a:prstGeom prst="line">
            <a:avLst/>
          </a:prstGeom>
          <a:noFill/>
          <a:ln w="12700">
            <a:solidFill>
              <a:srgbClr val="B2DF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771599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0F766E"/>
                </a:solidFill>
              </a:rPr>
              <a:t>I/O Redirection — dup2()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228600" y="1061923"/>
            <a:ext cx="4114800" cy="3559000"/>
          </a:xfrm>
          <a:prstGeom prst="rect">
            <a:avLst/>
          </a:prstGeom>
          <a:solidFill>
            <a:srgbClr val="E8F8F8"/>
          </a:solidFill>
          <a:ln w="12700">
            <a:solidFill>
              <a:srgbClr val="B2DFD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328" y="1228799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" y="1228799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1228799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" y="1393390"/>
            <a:ext cx="3922776" cy="1539245"/>
          </a:xfrm>
          <a:prstGeom prst="rect">
            <a:avLst/>
          </a:prstGeom>
          <a:noFill/>
          <a:ln>
            <a:solidFill>
              <a:srgbClr val="4A5A5F"/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F202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int </a:t>
            </a:r>
            <a:r>
              <a:rPr lang="en-US" sz="1100" dirty="0" err="1">
                <a:solidFill>
                  <a:srgbClr val="0F202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fd</a:t>
            </a:r>
            <a:r>
              <a:rPr lang="en-US" sz="1100" dirty="0">
                <a:solidFill>
                  <a:srgbClr val="0F202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= open(</a:t>
            </a:r>
            <a:r>
              <a:rPr lang="en-US" sz="1100" dirty="0" err="1">
                <a:solidFill>
                  <a:srgbClr val="0F202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args</a:t>
            </a:r>
            <a:r>
              <a:rPr lang="en-US" sz="1100" dirty="0">
                <a:solidFill>
                  <a:srgbClr val="0F202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[</a:t>
            </a:r>
            <a:r>
              <a:rPr lang="en-US" sz="1100" dirty="0" err="1">
                <a:solidFill>
                  <a:srgbClr val="0F202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</a:t>
            </a:r>
            <a:r>
              <a:rPr lang="en-US" sz="1100" dirty="0">
                <a:solidFill>
                  <a:srgbClr val="0F202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+ 1], O_WRONLY | O_CREAT | O_TRUNC, 0644);</a:t>
            </a:r>
            <a:endParaRPr lang="en-US" sz="1100" dirty="0">
              <a:solidFill>
                <a:srgbClr val="0F2027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 algn="l">
              <a:buNone/>
            </a:pPr>
            <a:r>
              <a:rPr lang="en-US" sz="1100" dirty="0">
                <a:solidFill>
                  <a:srgbClr val="0F202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if (</a:t>
            </a:r>
            <a:r>
              <a:rPr lang="en-US" sz="1100" dirty="0" err="1">
                <a:solidFill>
                  <a:srgbClr val="0F202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fd</a:t>
            </a:r>
            <a:r>
              <a:rPr lang="en-US" sz="1100" dirty="0">
                <a:solidFill>
                  <a:srgbClr val="0F202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== -1) { </a:t>
            </a:r>
            <a:endParaRPr lang="en-US" sz="1100" dirty="0">
              <a:solidFill>
                <a:srgbClr val="0F2027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 algn="l">
              <a:buNone/>
            </a:pPr>
            <a:r>
              <a:rPr lang="en-US" sz="1100" dirty="0">
                <a:solidFill>
                  <a:srgbClr val="0F202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</a:t>
            </a:r>
            <a:r>
              <a:rPr lang="en-US" sz="1100" dirty="0" err="1">
                <a:solidFill>
                  <a:srgbClr val="0F202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perror</a:t>
            </a:r>
            <a:r>
              <a:rPr lang="en-US" sz="1100" dirty="0">
                <a:solidFill>
                  <a:srgbClr val="0F202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(RED "  open()" RESET); </a:t>
            </a:r>
            <a:endParaRPr lang="en-US" sz="1100" dirty="0">
              <a:solidFill>
                <a:srgbClr val="0F2027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 algn="l">
              <a:buNone/>
            </a:pPr>
            <a:r>
              <a:rPr lang="en-US" sz="1100" dirty="0">
                <a:solidFill>
                  <a:srgbClr val="0F202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exit(EXIT_FAILURE); </a:t>
            </a:r>
            <a:endParaRPr lang="en-US" sz="1100" dirty="0">
              <a:solidFill>
                <a:srgbClr val="0F2027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 algn="l">
              <a:buNone/>
            </a:pPr>
            <a:r>
              <a:rPr lang="en-US" sz="1100" dirty="0">
                <a:solidFill>
                  <a:srgbClr val="0F202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endParaRPr lang="en-US" sz="1100" dirty="0">
              <a:solidFill>
                <a:srgbClr val="0F2027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 algn="l">
              <a:buNone/>
            </a:pPr>
            <a:r>
              <a:rPr lang="en-US" sz="1100" dirty="0">
                <a:solidFill>
                  <a:srgbClr val="0F202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dup2(</a:t>
            </a:r>
            <a:r>
              <a:rPr lang="en-US" sz="1100" dirty="0" err="1">
                <a:solidFill>
                  <a:srgbClr val="0F202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fd</a:t>
            </a:r>
            <a:r>
              <a:rPr lang="en-US" sz="1100" dirty="0">
                <a:solidFill>
                  <a:srgbClr val="0F202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, STDOUT_FILENO);</a:t>
            </a:r>
            <a:endParaRPr lang="en-US" sz="1100" dirty="0">
              <a:solidFill>
                <a:srgbClr val="0F2027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 algn="l">
              <a:buNone/>
            </a:pPr>
            <a:r>
              <a:rPr lang="en-US" sz="1100" dirty="0">
                <a:solidFill>
                  <a:srgbClr val="0F202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close(</a:t>
            </a:r>
            <a:r>
              <a:rPr lang="en-US" sz="1100" dirty="0" err="1">
                <a:solidFill>
                  <a:srgbClr val="0F202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fd</a:t>
            </a:r>
            <a:r>
              <a:rPr lang="en-US" sz="1100" dirty="0">
                <a:solidFill>
                  <a:srgbClr val="0F202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);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0" y="960120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0F766E"/>
                </a:solidFill>
              </a:rPr>
              <a:t>Pipe Chain — cmd1 | cmd2</a:t>
            </a: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4572000" y="1325880"/>
            <a:ext cx="1325880" cy="530352"/>
          </a:xfrm>
          <a:prstGeom prst="roundRect">
            <a:avLst>
              <a:gd name="adj" fmla="val 1379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0" y="1325880"/>
            <a:ext cx="132588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pipe(fd)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897880" y="1325880"/>
            <a:ext cx="13716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9488"/>
                </a:solidFill>
              </a:rPr>
              <a:t>→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35040" y="1325880"/>
            <a:ext cx="1325880" cy="530352"/>
          </a:xfrm>
          <a:prstGeom prst="roundRect">
            <a:avLst>
              <a:gd name="adj" fmla="val 1379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35040" y="1325880"/>
            <a:ext cx="132588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cmd1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360920" y="1325880"/>
            <a:ext cx="13716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9488"/>
                </a:solidFill>
              </a:rPr>
              <a:t>→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498080" y="1325880"/>
            <a:ext cx="1325880" cy="530352"/>
          </a:xfrm>
          <a:prstGeom prst="roundRect">
            <a:avLst>
              <a:gd name="adj" fmla="val 1379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98080" y="1325880"/>
            <a:ext cx="132588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dup2(write)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572000" y="2103120"/>
            <a:ext cx="1325880" cy="530352"/>
          </a:xfrm>
          <a:prstGeom prst="roundRect">
            <a:avLst>
              <a:gd name="adj" fmla="val 13793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0" y="2103120"/>
            <a:ext cx="132588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FFFFFF"/>
                </a:solidFill>
              </a:rPr>
              <a:t>readEnd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 rot="10800000">
            <a:off x="5897880" y="2103120"/>
            <a:ext cx="13716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9488"/>
                </a:solidFill>
              </a:rPr>
              <a:t>→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035040" y="2103120"/>
            <a:ext cx="1325880" cy="530352"/>
          </a:xfrm>
          <a:prstGeom prst="roundRect">
            <a:avLst>
              <a:gd name="adj" fmla="val 13793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35040" y="2103120"/>
            <a:ext cx="132588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Pipe Buffer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 rot="10800000">
            <a:off x="7360920" y="2103120"/>
            <a:ext cx="13716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9488"/>
                </a:solidFill>
              </a:rPr>
              <a:t>→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498080" y="2103120"/>
            <a:ext cx="1325880" cy="530352"/>
          </a:xfrm>
          <a:prstGeom prst="roundRect">
            <a:avLst>
              <a:gd name="adj" fmla="val 13793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98080" y="2103120"/>
            <a:ext cx="132588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FFFFFF"/>
                </a:solidFill>
              </a:rPr>
              <a:t>writeEnd</a:t>
            </a:r>
            <a:endParaRPr lang="en-US" sz="1400" dirty="0"/>
          </a:p>
        </p:txBody>
      </p:sp>
      <p:sp>
        <p:nvSpPr>
          <p:cNvPr id="43" name="Text 13"/>
          <p:cNvSpPr/>
          <p:nvPr/>
        </p:nvSpPr>
        <p:spPr>
          <a:xfrm>
            <a:off x="338328" y="3070857"/>
            <a:ext cx="3931920" cy="1427991"/>
          </a:xfrm>
          <a:prstGeom prst="rect">
            <a:avLst/>
          </a:prstGeom>
          <a:noFill/>
          <a:ln>
            <a:solidFill>
              <a:srgbClr val="4A5A5F"/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F202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int </a:t>
            </a:r>
            <a:r>
              <a:rPr lang="en-US" sz="1100" dirty="0" err="1">
                <a:solidFill>
                  <a:srgbClr val="0F202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fd</a:t>
            </a:r>
            <a:r>
              <a:rPr lang="en-US" sz="1100" dirty="0">
                <a:solidFill>
                  <a:srgbClr val="0F202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= open(</a:t>
            </a:r>
            <a:r>
              <a:rPr lang="en-US" sz="1100" dirty="0" err="1">
                <a:solidFill>
                  <a:srgbClr val="0F202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args</a:t>
            </a:r>
            <a:r>
              <a:rPr lang="en-US" sz="1100" dirty="0">
                <a:solidFill>
                  <a:srgbClr val="0F202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[</a:t>
            </a:r>
            <a:r>
              <a:rPr lang="en-US" sz="1100" dirty="0" err="1">
                <a:solidFill>
                  <a:srgbClr val="0F202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</a:t>
            </a:r>
            <a:r>
              <a:rPr lang="en-US" sz="1100" dirty="0">
                <a:solidFill>
                  <a:srgbClr val="0F202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+ 1], O_RDONLY);</a:t>
            </a:r>
            <a:endParaRPr lang="en-US" sz="1100" dirty="0">
              <a:solidFill>
                <a:srgbClr val="0F2027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 algn="l">
              <a:buNone/>
            </a:pPr>
            <a:r>
              <a:rPr lang="en-US" sz="1100" dirty="0">
                <a:solidFill>
                  <a:srgbClr val="0F202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if (</a:t>
            </a:r>
            <a:r>
              <a:rPr lang="en-US" sz="1100" dirty="0" err="1">
                <a:solidFill>
                  <a:srgbClr val="0F202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fd</a:t>
            </a:r>
            <a:r>
              <a:rPr lang="en-US" sz="1100" dirty="0">
                <a:solidFill>
                  <a:srgbClr val="0F202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== -1) { </a:t>
            </a:r>
            <a:endParaRPr lang="en-US" sz="1100" dirty="0">
              <a:solidFill>
                <a:srgbClr val="0F2027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 algn="l">
              <a:buNone/>
            </a:pPr>
            <a:r>
              <a:rPr lang="en-US" sz="1100" dirty="0">
                <a:solidFill>
                  <a:srgbClr val="0F202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</a:t>
            </a:r>
            <a:r>
              <a:rPr lang="en-US" sz="1100" dirty="0" err="1">
                <a:solidFill>
                  <a:srgbClr val="0F202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perror</a:t>
            </a:r>
            <a:r>
              <a:rPr lang="en-US" sz="1100" dirty="0">
                <a:solidFill>
                  <a:srgbClr val="0F202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(RED "  open()" RESET); </a:t>
            </a:r>
            <a:endParaRPr lang="en-US" sz="1100" dirty="0">
              <a:solidFill>
                <a:srgbClr val="0F2027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 algn="l">
              <a:buNone/>
            </a:pPr>
            <a:r>
              <a:rPr lang="en-US" sz="1100" dirty="0">
                <a:solidFill>
                  <a:srgbClr val="0F202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exit(EXIT_FAILURE); </a:t>
            </a:r>
            <a:endParaRPr lang="en-US" sz="1100" dirty="0">
              <a:solidFill>
                <a:srgbClr val="0F2027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 algn="l">
              <a:buNone/>
            </a:pPr>
            <a:r>
              <a:rPr lang="en-US" sz="1100" dirty="0">
                <a:solidFill>
                  <a:srgbClr val="0F202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endParaRPr lang="en-US" sz="1100" dirty="0">
              <a:solidFill>
                <a:srgbClr val="0F2027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 algn="l">
              <a:buNone/>
            </a:pPr>
            <a:r>
              <a:rPr lang="en-US" sz="1100" dirty="0">
                <a:solidFill>
                  <a:srgbClr val="0F202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dup2(</a:t>
            </a:r>
            <a:r>
              <a:rPr lang="en-US" sz="1100" dirty="0" err="1">
                <a:solidFill>
                  <a:srgbClr val="0F202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fd</a:t>
            </a:r>
            <a:r>
              <a:rPr lang="en-US" sz="1100" dirty="0">
                <a:solidFill>
                  <a:srgbClr val="0F202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, STDIN_FILENO);</a:t>
            </a:r>
            <a:endParaRPr lang="en-US" sz="1100" dirty="0">
              <a:solidFill>
                <a:srgbClr val="0F2027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 algn="l">
              <a:buNone/>
            </a:pPr>
            <a:r>
              <a:rPr lang="en-US" sz="1100" dirty="0">
                <a:solidFill>
                  <a:srgbClr val="0F202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close(</a:t>
            </a:r>
            <a:r>
              <a:rPr lang="en-US" sz="1100" dirty="0" err="1">
                <a:solidFill>
                  <a:srgbClr val="0F202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fd</a:t>
            </a:r>
            <a:r>
              <a:rPr lang="en-US" sz="1100" dirty="0">
                <a:solidFill>
                  <a:srgbClr val="0F202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);</a:t>
            </a:r>
            <a:endParaRPr lang="en-US" sz="1100" dirty="0"/>
          </a:p>
        </p:txBody>
      </p:sp>
      <p:sp>
        <p:nvSpPr>
          <p:cNvPr id="44" name="Shape 32"/>
          <p:cNvSpPr/>
          <p:nvPr/>
        </p:nvSpPr>
        <p:spPr>
          <a:xfrm>
            <a:off x="4572000" y="2880360"/>
            <a:ext cx="1325880" cy="530352"/>
          </a:xfrm>
          <a:prstGeom prst="roundRect">
            <a:avLst>
              <a:gd name="adj" fmla="val 13793"/>
            </a:avLst>
          </a:prstGeom>
          <a:solidFill>
            <a:srgbClr val="0D9488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4572000" y="2880360"/>
            <a:ext cx="132588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Dup2(read)</a:t>
            </a:r>
            <a:endParaRPr lang="en-US" sz="1400" dirty="0"/>
          </a:p>
        </p:txBody>
      </p:sp>
      <p:sp>
        <p:nvSpPr>
          <p:cNvPr id="47" name="Shape 32"/>
          <p:cNvSpPr/>
          <p:nvPr/>
        </p:nvSpPr>
        <p:spPr>
          <a:xfrm>
            <a:off x="6035040" y="2880360"/>
            <a:ext cx="1325880" cy="530352"/>
          </a:xfrm>
          <a:prstGeom prst="roundRect">
            <a:avLst>
              <a:gd name="adj" fmla="val 13793"/>
            </a:avLst>
          </a:prstGeom>
          <a:solidFill>
            <a:srgbClr val="0D9488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8" name="Text 33"/>
          <p:cNvSpPr/>
          <p:nvPr/>
        </p:nvSpPr>
        <p:spPr>
          <a:xfrm>
            <a:off x="6035040" y="2880360"/>
            <a:ext cx="132588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cmd2</a:t>
            </a:r>
            <a:endParaRPr lang="en-US" sz="1100" dirty="0"/>
          </a:p>
        </p:txBody>
      </p:sp>
      <p:sp>
        <p:nvSpPr>
          <p:cNvPr id="49" name="Text 29"/>
          <p:cNvSpPr/>
          <p:nvPr/>
        </p:nvSpPr>
        <p:spPr>
          <a:xfrm rot="5400000">
            <a:off x="7981061" y="1709166"/>
            <a:ext cx="246888" cy="5410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9488"/>
                </a:solidFill>
              </a:rPr>
              <a:t>→</a:t>
            </a:r>
            <a:endParaRPr lang="en-US" sz="1100" dirty="0"/>
          </a:p>
        </p:txBody>
      </p:sp>
      <p:sp>
        <p:nvSpPr>
          <p:cNvPr id="50" name="Text 29"/>
          <p:cNvSpPr/>
          <p:nvPr/>
        </p:nvSpPr>
        <p:spPr>
          <a:xfrm rot="5400000">
            <a:off x="5111496" y="2512544"/>
            <a:ext cx="246888" cy="5410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9488"/>
                </a:solidFill>
              </a:rPr>
              <a:t>→</a:t>
            </a:r>
            <a:endParaRPr lang="en-US" sz="1100" dirty="0"/>
          </a:p>
        </p:txBody>
      </p:sp>
      <p:sp>
        <p:nvSpPr>
          <p:cNvPr id="51" name="Text 26"/>
          <p:cNvSpPr/>
          <p:nvPr/>
        </p:nvSpPr>
        <p:spPr>
          <a:xfrm>
            <a:off x="5897880" y="2889504"/>
            <a:ext cx="13716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9488"/>
                </a:solidFill>
              </a:rPr>
              <a:t>→</a:t>
            </a:r>
            <a:endParaRPr lang="en-US" sz="1100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4453467" y="771599"/>
            <a:ext cx="0" cy="4120441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CFBF1"/>
          </a:solidFill>
          <a:ln w="12700">
            <a:solidFill>
              <a:srgbClr val="B2DF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01184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 err="1">
                <a:solidFill>
                  <a:srgbClr val="0F766E"/>
                </a:solidFill>
              </a:rPr>
              <a:t>MyShell</a:t>
            </a:r>
            <a:r>
              <a:rPr lang="en-US" sz="1200" dirty="0">
                <a:solidFill>
                  <a:srgbClr val="0F766E"/>
                </a:solidFill>
              </a:rPr>
              <a:t>  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503920" y="4901184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D9488"/>
                </a:solidFill>
              </a:rPr>
              <a:t>8</a:t>
            </a:r>
            <a:endParaRPr lang="en-US" sz="1200" b="1" dirty="0">
              <a:solidFill>
                <a:srgbClr val="0D9488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228600" y="347472"/>
            <a:ext cx="8595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76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Command History Module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228600" y="868680"/>
            <a:ext cx="8686800" cy="0"/>
          </a:xfrm>
          <a:prstGeom prst="line">
            <a:avLst/>
          </a:prstGeom>
          <a:noFill/>
          <a:ln w="12700">
            <a:solidFill>
              <a:srgbClr val="B2DF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96012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766E"/>
                </a:solidFill>
              </a:rPr>
              <a:t>MAX_HISTORY = 10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28600" y="1371600"/>
            <a:ext cx="749808" cy="457200"/>
          </a:xfrm>
          <a:prstGeom prst="rect">
            <a:avLst/>
          </a:prstGeom>
          <a:solidFill>
            <a:srgbClr val="0D9488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1371600"/>
            <a:ext cx="74980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cmd1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28600" y="1874520"/>
            <a:ext cx="74980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7280"/>
                </a:solidFill>
              </a:rPr>
              <a:t>0</a:t>
            </a:r>
            <a:endParaRPr lang="en-US" sz="1200" b="1" dirty="0"/>
          </a:p>
        </p:txBody>
      </p:sp>
      <p:sp>
        <p:nvSpPr>
          <p:cNvPr id="14" name="Shape 12"/>
          <p:cNvSpPr/>
          <p:nvPr/>
        </p:nvSpPr>
        <p:spPr>
          <a:xfrm>
            <a:off x="1069848" y="1371600"/>
            <a:ext cx="749808" cy="457200"/>
          </a:xfrm>
          <a:prstGeom prst="rect">
            <a:avLst/>
          </a:prstGeom>
          <a:solidFill>
            <a:srgbClr val="0D9488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9848" y="1371600"/>
            <a:ext cx="74980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cmd2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69848" y="1874520"/>
            <a:ext cx="74980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7280"/>
                </a:solidFill>
              </a:rPr>
              <a:t>1</a:t>
            </a:r>
            <a:endParaRPr lang="en-US" sz="1200" b="1" dirty="0">
              <a:solidFill>
                <a:srgbClr val="6B7280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911096" y="1371600"/>
            <a:ext cx="749808" cy="457200"/>
          </a:xfrm>
          <a:prstGeom prst="rect">
            <a:avLst/>
          </a:prstGeom>
          <a:solidFill>
            <a:srgbClr val="0D9488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11096" y="1371600"/>
            <a:ext cx="74980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cmd3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911096" y="1874520"/>
            <a:ext cx="74980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7280"/>
                </a:solidFill>
              </a:rPr>
              <a:t>2</a:t>
            </a:r>
            <a:endParaRPr lang="en-US" sz="1200" b="1" dirty="0">
              <a:solidFill>
                <a:srgbClr val="6B7280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752344" y="1371600"/>
            <a:ext cx="749808" cy="457200"/>
          </a:xfrm>
          <a:prstGeom prst="rect">
            <a:avLst/>
          </a:prstGeom>
          <a:solidFill>
            <a:srgbClr val="0D9488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52344" y="1371600"/>
            <a:ext cx="74980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cmd4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752344" y="1874520"/>
            <a:ext cx="74980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7280"/>
                </a:solidFill>
              </a:rPr>
              <a:t>3</a:t>
            </a:r>
            <a:endParaRPr lang="en-US" sz="1200" b="1" dirty="0">
              <a:solidFill>
                <a:srgbClr val="6B7280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593592" y="1371600"/>
            <a:ext cx="749808" cy="457200"/>
          </a:xfrm>
          <a:prstGeom prst="rect">
            <a:avLst/>
          </a:prstGeom>
          <a:solidFill>
            <a:srgbClr val="0D9488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93592" y="1371600"/>
            <a:ext cx="74980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cmd5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593592" y="1874520"/>
            <a:ext cx="74980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7280"/>
                </a:solidFill>
              </a:rPr>
              <a:t>4</a:t>
            </a:r>
            <a:endParaRPr lang="en-US" sz="1200" b="1" dirty="0">
              <a:solidFill>
                <a:srgbClr val="6B7280"/>
              </a:solidFill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434840" y="1371600"/>
            <a:ext cx="749808" cy="457200"/>
          </a:xfrm>
          <a:prstGeom prst="rect">
            <a:avLst/>
          </a:prstGeom>
          <a:solidFill>
            <a:srgbClr val="0D9488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34840" y="1371600"/>
            <a:ext cx="74980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cmd6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434840" y="1874520"/>
            <a:ext cx="74980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7280"/>
                </a:solidFill>
              </a:rPr>
              <a:t>5</a:t>
            </a:r>
            <a:endParaRPr lang="en-US" sz="1200" b="1" dirty="0">
              <a:solidFill>
                <a:srgbClr val="6B7280"/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276088" y="1371600"/>
            <a:ext cx="749808" cy="457200"/>
          </a:xfrm>
          <a:prstGeom prst="rect">
            <a:avLst/>
          </a:prstGeom>
          <a:solidFill>
            <a:srgbClr val="0D9488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76088" y="1371600"/>
            <a:ext cx="74980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cmd7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276088" y="1874520"/>
            <a:ext cx="74980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7280"/>
                </a:solidFill>
              </a:rPr>
              <a:t>6</a:t>
            </a:r>
            <a:endParaRPr lang="en-US" sz="1200" b="1" dirty="0">
              <a:solidFill>
                <a:srgbClr val="6B7280"/>
              </a:solidFill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117336" y="1371600"/>
            <a:ext cx="749808" cy="457200"/>
          </a:xfrm>
          <a:prstGeom prst="rect">
            <a:avLst/>
          </a:prstGeom>
          <a:solidFill>
            <a:srgbClr val="B2DFDF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17336" y="1371600"/>
            <a:ext cx="74980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117336" y="1874520"/>
            <a:ext cx="74980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7280"/>
                </a:solidFill>
              </a:rPr>
              <a:t>7</a:t>
            </a:r>
            <a:endParaRPr lang="en-US" sz="1200" b="1" dirty="0">
              <a:solidFill>
                <a:srgbClr val="6B7280"/>
              </a:solidFill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958584" y="1371600"/>
            <a:ext cx="749808" cy="457200"/>
          </a:xfrm>
          <a:prstGeom prst="rect">
            <a:avLst/>
          </a:prstGeom>
          <a:solidFill>
            <a:srgbClr val="B2DFDF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58584" y="1371600"/>
            <a:ext cx="74980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958584" y="1874520"/>
            <a:ext cx="74980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7280"/>
                </a:solidFill>
              </a:rPr>
              <a:t>8</a:t>
            </a:r>
            <a:endParaRPr lang="en-US" sz="1200" b="1" dirty="0">
              <a:solidFill>
                <a:srgbClr val="6B7280"/>
              </a:solidFill>
            </a:endParaRPr>
          </a:p>
        </p:txBody>
      </p:sp>
      <p:sp>
        <p:nvSpPr>
          <p:cNvPr id="38" name="Shape 36"/>
          <p:cNvSpPr/>
          <p:nvPr/>
        </p:nvSpPr>
        <p:spPr>
          <a:xfrm>
            <a:off x="7799832" y="1371600"/>
            <a:ext cx="749808" cy="457200"/>
          </a:xfrm>
          <a:prstGeom prst="rect">
            <a:avLst/>
          </a:prstGeom>
          <a:solidFill>
            <a:srgbClr val="B2DFDF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99832" y="1371600"/>
            <a:ext cx="74980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799832" y="1874520"/>
            <a:ext cx="74980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7280"/>
                </a:solidFill>
              </a:rPr>
              <a:t>9</a:t>
            </a:r>
            <a:endParaRPr lang="en-US" sz="1200" b="1" dirty="0">
              <a:solidFill>
                <a:srgbClr val="6B7280"/>
              </a:solidFill>
            </a:endParaRPr>
          </a:p>
        </p:txBody>
      </p:sp>
      <p:sp>
        <p:nvSpPr>
          <p:cNvPr id="43" name="Shape 41"/>
          <p:cNvSpPr/>
          <p:nvPr/>
        </p:nvSpPr>
        <p:spPr>
          <a:xfrm>
            <a:off x="228600" y="2487168"/>
            <a:ext cx="8595360" cy="566928"/>
          </a:xfrm>
          <a:prstGeom prst="rect">
            <a:avLst/>
          </a:prstGeom>
          <a:solidFill>
            <a:srgbClr val="F4FDFD"/>
          </a:solidFill>
          <a:ln w="9525">
            <a:solidFill>
              <a:srgbClr val="B2DFD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0040" y="2487168"/>
            <a:ext cx="31089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948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save_to_history(cmd)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3429000" y="2487168"/>
            <a:ext cx="53035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74151"/>
                </a:solidFill>
              </a:rPr>
              <a:t>Appends command to buffer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228600" y="3154680"/>
            <a:ext cx="85953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2DFD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0040" y="3154680"/>
            <a:ext cx="31089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948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show_history()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3429000" y="3154680"/>
            <a:ext cx="53035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74151"/>
                </a:solidFill>
              </a:rPr>
              <a:t>Prints numbered list of last N commands to stdout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228600" y="3822192"/>
            <a:ext cx="8595360" cy="566928"/>
          </a:xfrm>
          <a:prstGeom prst="rect">
            <a:avLst/>
          </a:prstGeom>
          <a:solidFill>
            <a:srgbClr val="F4FDFD"/>
          </a:solidFill>
          <a:ln w="9525">
            <a:solidFill>
              <a:srgbClr val="B2DFD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0040" y="3822192"/>
            <a:ext cx="31089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948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!!</a:t>
            </a:r>
            <a:r>
              <a:rPr lang="en-US" sz="1200" b="1" dirty="0">
                <a:solidFill>
                  <a:srgbClr val="0D948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3429000" y="3822192"/>
            <a:ext cx="53035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74151"/>
                </a:solidFill>
              </a:rPr>
              <a:t>Fetches last entry and re-executes it immediately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CFBF1"/>
          </a:solidFill>
          <a:ln w="12700">
            <a:solidFill>
              <a:srgbClr val="B2DF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01184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 err="1">
                <a:solidFill>
                  <a:srgbClr val="0F766E"/>
                </a:solidFill>
              </a:rPr>
              <a:t>MyShell</a:t>
            </a:r>
            <a:endParaRPr lang="en-US" sz="1200" dirty="0" err="1">
              <a:solidFill>
                <a:srgbClr val="0F766E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8503920" y="4901184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D9488"/>
                </a:solidFill>
              </a:rPr>
              <a:t>9</a:t>
            </a:r>
            <a:endParaRPr lang="en-US" sz="1200" b="1" dirty="0">
              <a:solidFill>
                <a:srgbClr val="0D9488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182880" y="145288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kern="0" spc="300" dirty="0">
                <a:solidFill>
                  <a:srgbClr val="0D9488"/>
                </a:solidFill>
              </a:rPr>
              <a:t>Output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182880" y="470747"/>
            <a:ext cx="8686800" cy="0"/>
          </a:xfrm>
          <a:prstGeom prst="line">
            <a:avLst/>
          </a:prstGeom>
          <a:noFill/>
          <a:ln w="12700">
            <a:solidFill>
              <a:srgbClr val="B2DFDF"/>
            </a:solidFill>
            <a:prstDash val="solid"/>
          </a:ln>
        </p:spPr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573499"/>
            <a:ext cx="8686800" cy="419005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76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3200400"/>
            <a:ext cx="2743200" cy="2743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18288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CCFBF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&gt;_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371600" y="868680"/>
            <a:ext cx="6400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FFAFE"/>
                </a:solidFill>
              </a:rPr>
              <a:t>MyShell successfully demonstrates</a:t>
            </a:r>
            <a:endParaRPr lang="en-US" sz="2000" dirty="0">
              <a:solidFill>
                <a:srgbClr val="CFFAFE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1371600" y="1261872"/>
            <a:ext cx="6400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FFAFE"/>
                </a:solidFill>
              </a:rPr>
              <a:t>core OS concepts in practice.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371600" y="1901952"/>
            <a:ext cx="6400800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71600" y="1901952"/>
            <a:ext cx="54864" cy="566928"/>
          </a:xfrm>
          <a:prstGeom prst="rect">
            <a:avLst/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08760" y="1901952"/>
            <a:ext cx="62179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</a:rPr>
              <a:t>8 working features — from built-ins to background execution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371600" y="2560320"/>
            <a:ext cx="6400800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71600" y="2560320"/>
            <a:ext cx="54864" cy="566928"/>
          </a:xfrm>
          <a:prstGeom prst="rect">
            <a:avLst/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08760" y="2560320"/>
            <a:ext cx="62179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</a:rPr>
              <a:t>Full I/O redirection &amp; pipe chaining </a:t>
            </a:r>
            <a:endParaRPr lang="en-US" sz="1600" dirty="0">
              <a:solidFill>
                <a:srgbClr val="FFFFFF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1371600" y="3493008"/>
            <a:ext cx="64008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i="1" dirty="0">
                <a:solidFill>
                  <a:srgbClr val="FFFFFF"/>
                </a:solidFill>
              </a:rPr>
              <a:t>Thank You</a:t>
            </a:r>
            <a:endParaRPr lang="en-US" sz="4000" i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2908</Words>
  <Application>WPS Presentation</Application>
  <PresentationFormat>On-screen Show (16:9)</PresentationFormat>
  <Paragraphs>336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SimSun</vt:lpstr>
      <vt:lpstr>Wingdings</vt:lpstr>
      <vt:lpstr>Courier New</vt:lpstr>
      <vt:lpstr>Courier New</vt:lpstr>
      <vt:lpstr>Courier New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MyShell — A Custom Unix Shell in C</dc:title>
  <dc:creator>PptxGenJS</dc:creator>
  <dc:subject>PptxGenJS Presentation</dc:subject>
  <cp:lastModifiedBy>Elif</cp:lastModifiedBy>
  <cp:revision>17</cp:revision>
  <dcterms:created xsi:type="dcterms:W3CDTF">2026-05-14T10:36:00Z</dcterms:created>
  <dcterms:modified xsi:type="dcterms:W3CDTF">2026-05-19T06:23:26Z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1033-12.1.0.26372</vt:lpwstr>
  </property>
  <property fmtid="{D5CDD505-2E9C-101B-9397-08002B2CF9AE}" pid="3" name="ICV">
    <vt:lpwstr>0408A47D1A4044C98285948959C48729_13</vt:lpwstr>
  </property>
</Properties>
</file>